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457200" cy="45720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14884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E8793A"/>
                </a:solidFill>
                <a:latin typeface="Calibri"/>
              </a:rPr>
              <a:t>Segment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0" i="0">
                <a:solidFill>
                  <a:srgbClr val="E8EDF3"/>
                </a:solidFill>
                <a:latin typeface="Calibri"/>
              </a:rPr>
              <a:t>Hands-on Lab · 50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63440"/>
            <a:ext cx="22860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E8EDF3"/>
                </a:solidFill>
                <a:latin typeface="Calibri"/>
              </a:rPr>
              <a:t>mini-project 實作主場 — 現場跑起你自己領域的 AI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636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1C7293"/>
                </a:solidFill>
                <a:latin typeface="Calibri"/>
              </a:rPr>
              <a:t>NCHU MCP Workshop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26364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1C7293"/>
                </a:solidFill>
                <a:latin typeface="Consolas"/>
              </a:rPr>
              <a:t>github.com/UDICatNCHU/nchu-mcp-workshop-2026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本節產出物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50 分鐘後，你將親手擁有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2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E8793A"/>
                </a:solidFill>
                <a:latin typeface="Arial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3327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A1A1A"/>
                </a:solidFill>
                <a:latin typeface="Calibri"/>
              </a:rPr>
              <a:t>在你自己電腦上跑起來的 MCP agent</a:t>
            </a:r>
          </a:p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Node.js + Python FastMCP + 極簡 HTML chat，三層完整可運作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E8793A"/>
                </a:solidFill>
                <a:latin typeface="Arial Black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880360"/>
            <a:ext cx="103327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A1A1A"/>
                </a:solidFill>
                <a:latin typeface="Calibri"/>
              </a:rPr>
              <a:t>一支「屬於你領域」的客製工具</a:t>
            </a:r>
          </a:p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換 JSON 就好，0 行 Python；實驗室介紹 / 課程大綱 / 研究成果清單都行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E8793A"/>
                </a:solidFill>
                <a:latin typeface="Arial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31920"/>
            <a:ext cx="103327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A1A1A"/>
                </a:solidFill>
                <a:latin typeface="Calibri"/>
              </a:rPr>
              <a:t>對 agent 資料流的「實際脈動感」</a:t>
            </a:r>
          </a:p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工具選擇 → 參數綁定 → LLM 摘要這條路，你會在 terminal 看它一次跑通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79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E8793A"/>
                </a:solidFill>
                <a:latin typeface="Arial Black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983479"/>
            <a:ext cx="103327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1A1A1A"/>
                </a:solidFill>
                <a:latin typeface="Calibri"/>
              </a:rPr>
              <a:t>L2 / L3 的明確挑戰路徑</a:t>
            </a:r>
          </a:p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帶回去繼續深入：加有參數的搜尋工具、呼叫外部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50 分鐘時間配置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講師 10 min 引導 + 40 min 巡場陪跑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3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109728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019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時段 (min)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901952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901952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產出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31720"/>
            <a:ext cx="10972800" cy="6400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331720"/>
            <a:ext cx="109728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468879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onsolas"/>
              </a:rPr>
              <a:t>0–10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468879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講師 demo + 學員同步 ./setup.sh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468879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環境綠燈 5/5 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063239"/>
            <a:ext cx="10972800" cy="6400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063239"/>
            <a:ext cx="109728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00399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C7293"/>
                </a:solidFill>
                <a:latin typeface="Consolas"/>
              </a:rPr>
              <a:t>10–20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200399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L1 Step 1–2：觀察現況 + 換自己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200399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data/your.json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794759"/>
            <a:ext cx="10972800" cy="6400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794759"/>
            <a:ext cx="109728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319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C7293"/>
                </a:solidFill>
                <a:latin typeface="Consolas"/>
              </a:rPr>
              <a:t>20–35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93192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L1 Step 3–4：改 docstring + 重啟驗證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9319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問自己資料會答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526279"/>
            <a:ext cx="10972800" cy="6400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526279"/>
            <a:ext cx="109728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634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onsolas"/>
              </a:rPr>
              <a:t>35–45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466344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交叉展示：3–4 位老師 demo 自己領域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66344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見識不同落地方式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257799"/>
            <a:ext cx="10972800" cy="6400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5257799"/>
            <a:ext cx="109728" cy="6400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394959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E8793A"/>
                </a:solidFill>
                <a:latin typeface="Consolas"/>
              </a:rPr>
              <a:t>45–50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6040" y="5394959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Q&amp;A + 為 L2/L3 與 Segment 5 鋪陳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5394959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清楚下一步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6B6B6B"/>
                </a:solidFill>
                <a:latin typeface="Calibri"/>
              </a:rPr>
              <a:t>※ 40 分鐘巡場預計 80% 在幫卡住的老師；開場預演越短，越多時間陪跑。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架構快速回顧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Segment 2 / 3 的動畫，現在你要跑的實體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4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920240"/>
            <a:ext cx="9966960" cy="8686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920240"/>
            <a:ext cx="137160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19" y="20116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Arial Black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377440"/>
            <a:ext cx="9509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onsolas"/>
              </a:rPr>
              <a:t>web/index.html  ·  fetch POST /chat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743200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E8793A"/>
                </a:solidFill>
                <a:latin typeface="Arial Black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9966960" cy="8686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2926080"/>
            <a:ext cx="137160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19" y="30175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Arial Black"/>
              </a:rPr>
              <a:t>Node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19" y="3383280"/>
            <a:ext cx="9509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onsolas"/>
              </a:rPr>
              <a:t>Express  ·  LLMClient  ·  MCPClient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749040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E8793A"/>
                </a:solidFill>
                <a:latin typeface="Arial Black"/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931920"/>
            <a:ext cx="9966960" cy="8686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3931920"/>
            <a:ext cx="137160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19" y="4023359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Arial Black"/>
              </a:rPr>
              <a:t>Python FastMCP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389120"/>
            <a:ext cx="9509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onsolas"/>
              </a:rPr>
              <a:t>@mcp.tool()  ·  stdio JSON-RPC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754880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E8793A"/>
                </a:solidFill>
                <a:latin typeface="Arial Black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937760"/>
            <a:ext cx="9966960" cy="86868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4937760"/>
            <a:ext cx="137160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19" y="502920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data/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19" y="5394960"/>
            <a:ext cx="9509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onsolas"/>
              </a:rPr>
              <a:t>你的 JSON  ·  外部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72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Calibri"/>
              </a:rPr>
              <a:t>關鍵：LLM 回 stop_reason=tool_use → 跑工具 → 結果餵回 → 再問 → 最後 end_turn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快速入門（五步上線）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預計 10 分鐘，跟著我一起做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5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10972800" cy="411480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10515600" cy="3931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DDE4EE"/>
                </a:solidFill>
                <a:latin typeface="Consolas"/>
              </a:rPr>
              <a:t># 1. 取得教材
$ git clone https://github.com/UDICatNCHU/nchu-mcp-workshop-2026
$ cd nchu-mcp-workshop-2026/mini-project
# 2. 設定 API key（或等下換成 workshop 本地端點）
$ cp .env.example .env &amp;&amp; vim .env
# 3. 環境檢查（自動裝依賴 + 試啟動）
$ ./setup.sh
    → 看到 5/5 ✅ 代表 OK
# 4. 啟動
$ cd backend-node &amp;&amp; npm start
    → "Mini AI Assistant: http://localhost:3000"
# 5. 瀏覽器打開 http://localhost:3000
    → 問 "英文中心幾點開門？" 看 AI 答你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E8793A"/>
                </a:solidFill>
                <a:latin typeface="Calibri"/>
              </a:rPr>
              <a:t>看到 AI 答出 JSON 內容 → 恭喜，agent loop 已在你本機跑通 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Lab 1 — 換 JSON 做你領域的助理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0 行 Python · 40 分鐘 · 現場必做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6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2651760" cy="347472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2651760" cy="685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76272"/>
            <a:ext cx="914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240279"/>
            <a:ext cx="1554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 Black"/>
              </a:rPr>
              <a:t>觀察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219456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看 [tool_use] log
AI 摘要 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4983479"/>
            <a:ext cx="137160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5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103120"/>
            <a:ext cx="2651760" cy="347472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66160" y="2103120"/>
            <a:ext cx="2651760" cy="685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2176272"/>
            <a:ext cx="914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79"/>
            <a:ext cx="1554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 Black"/>
              </a:rPr>
              <a:t>換資料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017520"/>
            <a:ext cx="219456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編輯 data/*.json
放你的領域內容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4983479"/>
            <a:ext cx="1371600" cy="4114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60" y="50292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15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79" y="2103120"/>
            <a:ext cx="2651760" cy="347472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79" y="2103120"/>
            <a:ext cx="2651760" cy="68580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399" y="2176272"/>
            <a:ext cx="914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240279"/>
            <a:ext cx="1554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 Black"/>
              </a:rPr>
              <a:t>改說明書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79" y="3017520"/>
            <a:ext cx="219456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docstring 的使用情境
決定工具呼叫率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79" y="4983479"/>
            <a:ext cx="1371600" cy="41148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79" y="50292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10 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3999" y="2103120"/>
            <a:ext cx="2651760" cy="347472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3999" y="2103120"/>
            <a:ext cx="2651760" cy="685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19" y="2176272"/>
            <a:ext cx="914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39" y="2240279"/>
            <a:ext cx="1554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 Black"/>
              </a:rPr>
              <a:t>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599" y="3017520"/>
            <a:ext cx="219456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重啟 npm start
問自己資料問題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72599" y="4983479"/>
            <a:ext cx="137160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599" y="50292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5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1">
                <a:solidFill>
                  <a:srgbClr val="E8793A"/>
                </a:solidFill>
                <a:latin typeface="Calibri"/>
              </a:rPr>
              <a:t>產出：你的 AI 助理會回答「你自己放進去的資料」— 不是英文中心 demo 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Step 1–2：觀察 → 換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還沒動到 Python 一個字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7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5486400" cy="42062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864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92807"/>
            <a:ext cx="53035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 Black"/>
              </a:rPr>
              <a:t>Step 1　觀察（5 min）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14600"/>
            <a:ext cx="5212080" cy="3474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在瀏覽器問：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065A82"/>
                </a:solidFill>
                <a:latin typeface="Consolas"/>
              </a:rPr>
              <a:t>  「英文中心幾點開門？」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在 terminal 觀察：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E8793A"/>
                </a:solidFill>
                <a:latin typeface="Consolas"/>
              </a:rPr>
              <a:t>  [tool_use] get_english_center_info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💡 關鍵觀察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6B6B"/>
                </a:solidFill>
                <a:latin typeface="Calibri"/>
              </a:rPr>
              <a:t>Claude 不會 dump 整份 JSON。它挑出「開放時間」那一段。</a:t>
            </a:r>
          </a:p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這是 LLM 對 tool result 做的「摘要」— agent 的靈魂。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28800"/>
            <a:ext cx="5257800" cy="420624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2578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892807"/>
            <a:ext cx="5029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 Black"/>
              </a:rPr>
              <a:t>Step 2　換 JSON（15 min）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514600"/>
            <a:ext cx="5074920" cy="3474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編輯：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C7293"/>
                </a:solidFill>
                <a:latin typeface="Consolas"/>
              </a:rPr>
              <a:t>  mcp-server-py/data/english_center.json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換成你自己的領域資料：</a:t>
            </a:r>
          </a:p>
          <a:p>
            <a:pPr algn="l">
              <a:spcAft>
                <a:spcPts val="1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你的研究室介紹</a:t>
            </a:r>
          </a:p>
          <a:p>
            <a:pPr algn="l">
              <a:spcAft>
                <a:spcPts val="1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你教的一門課（大綱/作業/評分）</a:t>
            </a:r>
          </a:p>
          <a:p>
            <a:pPr algn="l">
              <a:spcAft>
                <a:spcPts val="1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你系所的 FAQ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你的研究成果清單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93A"/>
                </a:solidFill>
                <a:latin typeface="Calibri"/>
              </a:rPr>
              <a:t>⚠ JSON 語法錯會卡住：</a:t>
            </a:r>
          </a:p>
          <a:p>
            <a:pPr algn="l"/>
            <a:r>
              <a:rPr sz="1200" b="0" i="0">
                <a:solidFill>
                  <a:srgbClr val="6B6B6B"/>
                </a:solidFill>
                <a:latin typeface="Consolas"/>
              </a:rPr>
              <a:t>  python3 -m json.tool data/xxx.json  驗一下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Step 3：改 docstring（10 min）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這一步最影響 AI 能否正確呼叫你的工具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8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1E2761"/>
                </a:solidFill>
                <a:latin typeface="Calibri"/>
              </a:rPr>
              <a:t>docstring 就是 LLM 看到的「工具說明書」— 不是給人類的註解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486400" cy="347472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5486400" cy="457200"/>
          </a:xfrm>
          <a:prstGeom prst="rect">
            <a:avLst/>
          </a:prstGeom>
          <a:solidFill>
            <a:srgbClr val="C8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 Black"/>
              </a:rPr>
              <a:t>❌  糟糕寫法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530352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onsolas"/>
              </a:rPr>
              <a:t>@mcp.tool()
def search(keyword: str) -&gt; str:
    """Search."""
    ...
# 結果：Claude 不知道何時
# 該呼叫，常常漏叫。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286000"/>
            <a:ext cx="5257800" cy="347472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286000"/>
            <a:ext cx="5257800" cy="457200"/>
          </a:xfrm>
          <a:prstGeom prst="rect">
            <a:avLst/>
          </a:prstGeom>
          <a:solidFill>
            <a:srgbClr val="2E8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 Black"/>
              </a:rPr>
              <a:t>✅  好寫法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834640"/>
            <a:ext cx="50292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onsolas"/>
              </a:rPr>
              <a:t>@mcp.tool()
def search_teachers(
    keyword: str, limit: int = 5
) -&gt; str:
    """依關鍵字搜尋資工系教授。
    使用情境：使用者詢問某
    領域教授、某位教授時呼叫。
    ...
    """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1">
                <a:solidFill>
                  <a:srgbClr val="E8793A"/>
                </a:solidFill>
                <a:latin typeface="Calibri"/>
              </a:rPr>
              <a:t>💡 關鍵 3 件事：① 明寫「使用情境」  ② 說明參數意義  ③ 描述回傳格式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Step 4：重啟 + 驗證（5 min）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三件事證明你的工具「真的在 work」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9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10972800" cy="118872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DDE4EE"/>
                </a:solidFill>
                <a:latin typeface="Consolas"/>
              </a:rPr>
              <a:t>$ Ctrl+C                            # 停掉前一次 server
$ cd backend-node &amp;&amp; npm start
  → ✓ hello_tool → get_lab_info    # 新名字出現代表工具註冊成功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337560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337560"/>
            <a:ext cx="109728" cy="685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4728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65A82"/>
                </a:solidFill>
                <a:latin typeface="Arial Black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92424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問「不相關」的問題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0332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onsolas"/>
              </a:rPr>
              <a:t>「今天天氣？」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502152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AI 應該不呼叫你的工具，直接聊天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160520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160520"/>
            <a:ext cx="109728" cy="685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7024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C7293"/>
                </a:solidFill>
                <a:latin typeface="Arial Black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215383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問「相關」的問題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52628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onsolas"/>
              </a:rPr>
              <a:t>「研究室招生條件？」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325112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AI 會引用 JSON 裡的實際內容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983480"/>
            <a:ext cx="109728" cy="68580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093208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E8793A"/>
                </a:solidFill>
                <a:latin typeface="Arial Black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038344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問「資料沒有」的內容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4924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onsolas"/>
              </a:rPr>
              <a:t>「有實習機會嗎？」（JSON 沒這欄）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5148072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AI 應該明說不知道，不會幻想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Calibri"/>
              </a:rPr>
              <a:t>第 ③ 項過關最關鍵 — 代表 agent 在 tool-grounded，不是在胡謅。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Workshop 現場：改用 NCHU 本地模型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省 API 費 · 延遲更低 · 零配額限制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10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10972800" cy="219456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DDE4EE"/>
                </a:solidFill>
                <a:latin typeface="Consolas"/>
              </a:rPr>
              <a:t># mini-project/.env
LLM_PROVIDER=openai
OPENAI_BASE_URL=http://&lt;workshop-server&gt;:8000/v1
OPENAI_API_KEY=dummy
OPENAI_MODEL=gemma-4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51960"/>
            <a:ext cx="10972800" cy="164592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251960"/>
            <a:ext cx="109728" cy="164592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34340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📊  2026-04-24 實測對比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709160"/>
            <a:ext cx="1051560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Tool 選擇正確率：Claude 100%  ·  Gemma 4 100%  ← 打平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Hallucination 抵抗：兩者都通過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onsolas"/>
              </a:rPr>
              <a:t>延遲：Claude 4.8s  vs  Gemma 4 3.5s  ← 本地快 1.4×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onsolas"/>
              </a:rPr>
              <a:t>→ 詳見 mini-project/docs/benchmarks/2026-04-24-claude-vs-gemma4.md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Arial Black"/>
              </a:rPr>
              <a:t>常見卡點速查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1C7293"/>
                </a:solidFill>
                <a:latin typeface="Calibri"/>
              </a:rPr>
              <a:t>卡住 30 秒就看這頁；更多在 Lab 手冊結尾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alibri"/>
              </a:rPr>
              <a:t>11 /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2743200" cy="36576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1097280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47088"/>
            <a:ext cx="3474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症狀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原因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847088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解法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31720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setup.sh 卡 Node 版本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87168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本機 Node &lt;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487168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065A82"/>
                </a:solidFill>
                <a:latin typeface="Consolas"/>
              </a:rPr>
              <a:t>nvm install 22 &amp;&amp; nvm use 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08960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64408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port 3000 已被占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264408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其他服務先佔了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64408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065A82"/>
                </a:solidFill>
                <a:latin typeface="Consolas"/>
              </a:rPr>
              <a:t>PORT=3001 npm start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886200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41648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瀏覽器問後沒反應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041648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.env 的 API key 還是 placeholder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041648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065A82"/>
                </a:solidFill>
                <a:latin typeface="Consolas"/>
              </a:rPr>
              <a:t>檢查 sk-ant-... 有沒有填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663440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18888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JSON 讀取錯誤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818888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手改 JSON 有語法錯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818888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065A82"/>
                </a:solidFill>
                <a:latin typeface="Consolas"/>
              </a:rPr>
              <a:t>python3 -m json.tool data/xxx.json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440679"/>
            <a:ext cx="10972800" cy="6858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596127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問相關問題但沒叫工具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596127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docstring 寫太短 / 太含糊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5596127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065A82"/>
                </a:solidFill>
                <a:latin typeface="Consolas"/>
              </a:rPr>
              <a:t>補「使用情境：當使用者問 X 時」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1">
                <a:solidFill>
                  <a:srgbClr val="E8793A"/>
                </a:solidFill>
                <a:latin typeface="Calibri"/>
              </a:rPr>
              <a:t>卡住超過 3 分鐘：舉手。講師 + 鄰座老師會過來幫你。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0" i="0">
                <a:solidFill>
                  <a:srgbClr val="E8EDF3"/>
                </a:solidFill>
                <a:latin typeface="Calibri"/>
              </a:rPr>
              <a:t>恭喜 — 你剛做出了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Arial Black"/>
              </a:rPr>
              <a:t>屬於你自己領域的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834640"/>
            <a:ext cx="2286000" cy="4572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E8793A"/>
                </a:solidFill>
                <a:latin typeface="Arial Black"/>
              </a:rPr>
              <a:t>回家路徑（課後自修）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5486400" cy="228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🧪  L2 — 加一支有參數的搜尋工具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E8EDF3"/>
                </a:solidFill>
                <a:latin typeface="Consolas"/>
              </a:rPr>
              <a:t>     docs/labs/L2-add-a-search-tool.md  (40 分)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🧪  L3 — 呼叫外部 API（async + XML）</a:t>
            </a:r>
          </a:p>
          <a:p>
            <a:pPr algn="l"/>
            <a:r>
              <a:rPr sz="1200" b="0" i="0">
                <a:solidFill>
                  <a:srgbClr val="E8EDF3"/>
                </a:solidFill>
                <a:latin typeface="Consolas"/>
              </a:rPr>
              <a:t>     docs/labs/L3-call-external-api.md  (60 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1546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E8793A"/>
                </a:solidFill>
                <a:latin typeface="Arial Black"/>
              </a:rPr>
              <a:t>下一段 Segment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566160"/>
            <a:ext cx="5303520" cy="228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實務考量（10 min 收尾）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E8EDF3"/>
                </a:solidFill>
                <a:latin typeface="Calibri"/>
              </a:rPr>
              <a:t>從「你剛做的 3 個工具」往外擴：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8EDF3"/>
                </a:solidFill>
                <a:latin typeface="Calibri"/>
              </a:rPr>
              <a:t>• 239 工具怎麼辦？（Scale）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8EDF3"/>
                </a:solidFill>
                <a:latin typeface="Calibri"/>
              </a:rPr>
              <a:t>• 工具描述怎麼寫？（Quality）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8EDF3"/>
                </a:solidFill>
                <a:latin typeface="Calibri"/>
              </a:rPr>
              <a:t>• 該用哪個模型？（Model）</a:t>
            </a:r>
          </a:p>
          <a:p>
            <a:pPr algn="l"/>
            <a:r>
              <a:rPr sz="1300" b="0" i="0">
                <a:solidFill>
                  <a:srgbClr val="E8EDF3"/>
                </a:solidFill>
                <a:latin typeface="Calibri"/>
              </a:rPr>
              <a:t>• 帳單會有多貴？（Cost）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26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1C7293"/>
                </a:solidFill>
                <a:latin typeface="Consolas"/>
              </a:rPr>
              <a:t>github.com/UDICatNCHU/nchu-mcp-workshop-2026   ·   Issues 歡迎！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