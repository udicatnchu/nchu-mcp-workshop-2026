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57400"/>
            <a:ext cx="9143771" cy="41148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17220" y="480059"/>
            <a:ext cx="7543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SEGMENT 4 · HANDS-ON · 70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03019"/>
            <a:ext cx="7955279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750" b="1" i="0">
                <a:solidFill>
                  <a:srgbClr val="FFFFFF"/>
                </a:solidFill>
                <a:latin typeface="Arial Black"/>
              </a:rPr>
              <a:t>動手做：一個能力的誕生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509" y="2263139"/>
            <a:ext cx="754380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0" i="1">
                <a:solidFill>
                  <a:srgbClr val="9CA3AF"/>
                </a:solidFill>
                <a:latin typeface="Calibri"/>
              </a:rPr>
              <a:t>在你自己的瀏覽器,把一個 AI 能力從「無」變到「有」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509" y="3188970"/>
            <a:ext cx="781812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0">
                <a:solidFill>
                  <a:srgbClr val="7B5CF5"/>
                </a:solidFill>
                <a:latin typeface="Calibri"/>
              </a:rPr>
              <a:t>給工具 → 換你的資料 → 自己選工具填參數 → 接外部 API → 撐大資料 → 親手造一支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509" y="4423410"/>
            <a:ext cx="7543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本投影片講概念,實作在 Colab 現場做 —— 兩邊交錯進行。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T H E   J O U R N E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今天的旅程：六步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先架好環境(第 0 步),然後一步一步看「能力」長出來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7B5CF5"/>
                </a:solidFill>
                <a:latin typeface="Arial Blac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770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給工具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770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它就連上世界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76222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76222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FB7048"/>
                </a:solidFill>
                <a:latin typeface="Arial Blac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4802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換你的資料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4802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L1 · 零邏輯改動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75254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5254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0EA594"/>
                </a:solidFill>
                <a:latin typeface="Arial Blac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3833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選工具填參數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3833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L2 · LLM 自己抓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4286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4286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EF4444"/>
                </a:solidFill>
                <a:latin typeface="Arial Black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2866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接外部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2866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L3 · 圖書館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3318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73318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7B5CF5"/>
                </a:solidFill>
                <a:latin typeface="Arial Black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41898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撐大資料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41898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L4 · 3018 門課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2350" y="1851660"/>
            <a:ext cx="1316736" cy="18516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72350" y="2057400"/>
            <a:ext cx="1316736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2550" b="1" i="0">
                <a:solidFill>
                  <a:srgbClr val="FB7048"/>
                </a:solidFill>
                <a:latin typeface="Arial Black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0929" y="2640330"/>
            <a:ext cx="1179576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125" b="1" i="0">
                <a:solidFill>
                  <a:srgbClr val="1F2937"/>
                </a:solidFill>
                <a:latin typeface="Calibri"/>
              </a:rPr>
              <a:t>親手造工具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0929" y="3188970"/>
            <a:ext cx="1179576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862" b="0" i="0">
                <a:solidFill>
                  <a:srgbClr val="9CA3AF"/>
                </a:solidFill>
                <a:latin typeface="Calibri"/>
              </a:rPr>
              <a:t>L5 · 高潮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每一步都「看得見背後的 loop」—— Segment 2／3 講的 tool_use ↔ tool_result,在你畫面上跑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· ①   H O W   T O   U S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投影片講概念，Colab 現場做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看到 teal 提示列就切到 Colab；做完再切回來講下一步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7B5CF5"/>
                </a:solidFill>
                <a:latin typeface="Arial Black"/>
              </a:rPr>
              <a:t>投影片（這裡）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講「為什麼」與概念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一步一張,看完就切過去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每張底下 teal 列 = 該切 Colab 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Colab（現場做）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零安裝,瀏覽器就跑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左側 ☰ 目錄當投影片導覽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• 程式碼收在標題列,點 ▶ 就執行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71900"/>
            <a:ext cx="8229600" cy="7200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71900"/>
            <a:ext cx="7818120" cy="7200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70 分鐘配置： 0–10 環境＋第1步 demo ｜ 10–25 第2步 L1(學員必做) ｜ 25–45 第3–4步 L2/L3 ｜ 45–60 交叉展示＋第5–6步 ｜ 60–70 Q&amp;A＋鋪陳 Segment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0 步   S E T U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先把工作台架起來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跟故事無關的「準備材料」—— 跑一次就好,約 3 分鐘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83080"/>
            <a:ext cx="8229600" cy="1645919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933956"/>
            <a:ext cx="7852409" cy="135788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9CA3AF"/>
                </a:solidFill>
                <a:latin typeface="Consolas"/>
              </a:rPr>
              <a:t># 三格,從上到下按 ▶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E5E7EB"/>
                </a:solidFill>
                <a:latin typeface="Consolas"/>
              </a:rPr>
              <a:t>① 下載教材 + 裝 Node 20 / uv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E5E7EB"/>
                </a:solidFill>
                <a:latin typeface="Consolas"/>
              </a:rPr>
              <a:t>② 安裝相依套件 (npm + uv sync)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E5E7EB"/>
                </a:solidFill>
                <a:latin typeface="Consolas"/>
              </a:rPr>
              <a:t>③ 設定 Claude API key</a:t>
            </a:r>
          </a:p>
          <a:p>
            <a:pPr algn="l">
              <a:spcAft>
                <a:spcPts val="75"/>
              </a:spcAft>
            </a:pPr>
            <a:r>
              <a:rPr sz="1200" b="0" i="0">
                <a:solidFill>
                  <a:srgbClr val="9CA3AF"/>
                </a:solidFill>
                <a:latin typeface="Consolas"/>
              </a:rPr>
              <a:t>   — Colab 左側 🔑 Secrets 設一次,或當場貼上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0 步：跑環境三格(學員同步開 Colab)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1 步   T O O L   =   B R I D G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給 LLM 一支工具，它就連上世界了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LLM 很會講話,但摸不到外部世界 —— 工具就是那座橋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20574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EF4444"/>
                </a:solidFill>
                <a:latin typeface="Arial Black"/>
              </a:rPr>
              <a:t>沒有工具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2344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✗ 不知道今天幾號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✗ 查不到圖書館有沒有某本書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✗ 看不到你研究室的資料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→ 只能用舊知識,或亂猜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20574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掛上工具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23444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✓ 自己決定呼叫哪支工具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✓ 拿到真實資料再回答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✓ 你還「看得見」它在背後呼叫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→ 這就是 agentic loop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1 步：啟動 server → 問一題 → 跑「看得見的 loop」那格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2 步 · L1   M A K E   I T   Y O U R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把它換成「你的」世界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不寫一行新邏輯,只動兩樣東西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FB7048"/>
                </a:solidFill>
                <a:latin typeface="Arial Black"/>
              </a:rPr>
              <a:t>① 換資料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把英文中心的 JSON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換成你的：實驗室 / 課程 /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研究成果 …任何你想被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自然語言問的資料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7B5CF5"/>
                </a:solidFill>
                <a:latin typeface="Arial Black"/>
              </a:rPr>
              <a:t>② 改說明書(docstring)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LLM 靠這段文字決定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「要不要呼叫這支工具」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寫清楚『使用情境』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—— 它就知道何時該用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376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376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邏輯一行沒動,只換資料 + 說明書 —— 這就是 MCP 解耦的威力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2 步：L1 ①換資料 → ②改 docstring → ③重啟驗證（學員必做）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3 步 · L2   L L M   P I C K S   A R G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讓它自己選工具、填參數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真實工具常常要帶參數 —— 看 LLM 自己從句子抓出來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9CA3AF"/>
                </a:solidFill>
                <a:latin typeface="Arial Black"/>
              </a:rPr>
              <a:t>直接呼叫（你來）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search_teachers("電腦視覺", 3)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↑ 你自己決定關鍵字、自己呼叫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只是讓你看清工具本體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透過 agent（LLM 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你問：「有誰在做電腦視覺？」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↑ LLM 自己萃取 keyword=電腦視覺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自己決定呼叫哪支、要不要再追問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376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376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F766E"/>
                </a:solidFill>
                <a:latin typeface="Calibri"/>
              </a:rPr>
              <a:t>▶  agent 的價值不是「能呼叫工具」,而是 LLM 自己判斷該用哪支、填什麼、下一步要不要再查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3 步：L2 在聊天問「有做 CV 的老師？email？」,看它連兩次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4 步 · L3   R E A C H   T H E   W O R L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接上真實的外部世界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前面讀本機資料,真實工具常常要打外部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8229600" cy="11658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7886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EF4444"/>
                </a:solidFill>
                <a:latin typeface="Arial Black"/>
              </a:rPr>
              <a:t>例：圖書館館藏查詢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781812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  <a:latin typeface="Calibri"/>
              </a:rPr>
              <a:t>library_tool 即時打中央大學圖書館的 Primo 公開端點（免 API key）,查到真實館藏再回給你 —— 不是假資料。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3120389"/>
            <a:ext cx="8229600" cy="6858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669" y="3120389"/>
            <a:ext cx="7818120" cy="68580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alibri"/>
              </a:rPr>
              <a:t>▶  工具背後可以是「任何外部系統」：圖書館、天氣、你系上的選課 API、實驗數據庫 …… 對 LLM 來說都長一樣 —— 一個它能呼叫、會回 JSON 的工具。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4 步：L3 問「圖書館有沒有《原子習慣》」+ 直接呼叫看它打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5 步 · L4   S C A L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撐住幾千筆大資料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course_tool 查中興 114-2 全部 3018 門真實課程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EF4444"/>
                </a:solidFill>
                <a:latin typeface="Arial Black"/>
              </a:rPr>
              <a:t>為什麼不全塞給 LLM？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3018 筆全丟進去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→ context 直接爆掉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→ 又慢又貴又不準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工具端先篩再回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工具在 3018 筆裡搜尋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只回前幾筆相關的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LLM 只看這份篩過的小清單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376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376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「工具負責檢索、LLM 負責理解」—— 這就是 Segment 5 要談的 scale 議題的縮影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5 步：L4 問「有沒有教深度學習的課？」「資工系有哪些選修？」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第 6 步 · L5   B U I L D   Y O U R   O W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你親手造一支工具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給 LLM 一個它本來絕對辦不到的能力 —— 整趟旅程的高潮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EF4444"/>
                </a:solidFill>
                <a:latin typeface="Arial Black"/>
              </a:rPr>
              <a:t>① 先問（它辦不到）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問：「今天星期幾？」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✗ LLM 沒有「現在」的概念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✗ 沒有時鐘 → 說不知道或亂猜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714500"/>
            <a:ext cx="3771900" cy="185166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37944"/>
            <a:ext cx="34290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75" b="1" i="0">
                <a:solidFill>
                  <a:srgbClr val="0EA594"/>
                </a:solidFill>
                <a:latin typeface="Arial Black"/>
              </a:rPr>
              <a:t>② 造工具 → 再問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2050" y="2366010"/>
            <a:ext cx="342900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寫一支 get_today()（用 datetime）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✓ 重啟後再問 → 它答對了</a:t>
            </a:r>
          </a:p>
          <a:p>
            <a:pPr algn="l">
              <a:spcAft>
                <a:spcPts val="600"/>
              </a:spcAft>
            </a:pPr>
            <a:r>
              <a:rPr sz="1162" b="0" i="0">
                <a:solidFill>
                  <a:srgbClr val="374151"/>
                </a:solidFill>
                <a:latin typeface="Calibri"/>
              </a:rPr>
              <a:t>✓ 你剛給了 AI 一個新能力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7376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7376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這 = MCP 的全部意義。Segment 1 問「怎麼讓 LLM 連上真實世界」,答案就是你剛做的這件事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2930" y="4491990"/>
            <a:ext cx="8229600" cy="41147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669" y="4491990"/>
            <a:ext cx="7818120" cy="41147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0F766E"/>
                </a:solidFill>
                <a:latin typeface="Calibri"/>
              </a:rPr>
              <a:t>▶  切到 Colab　— 第 6 步：L5 ①先問失敗 → ②寫 today_tool → ③再問答對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17220" y="514350"/>
            <a:ext cx="75438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W R A P   U 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2930" y="1028700"/>
            <a:ext cx="7955279" cy="6172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 Black"/>
              </a:rPr>
              <a:t>你剛剛走完的旅程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1851660"/>
            <a:ext cx="75438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675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1 · 給 LLM 工具,看見它連上世界（看得見的 loop）</a:t>
            </a:r>
          </a:p>
          <a:p>
            <a:pPr algn="l">
              <a:spcAft>
                <a:spcPts val="675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2 · 換成你的資料,零邏輯改動（L1）</a:t>
            </a:r>
          </a:p>
          <a:p>
            <a:pPr algn="l">
              <a:spcAft>
                <a:spcPts val="675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3 · 讓它自己選工具、填參數（L2）</a:t>
            </a:r>
          </a:p>
          <a:p>
            <a:pPr algn="l">
              <a:spcAft>
                <a:spcPts val="675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4 · 接真實外部 API（L3）</a:t>
            </a:r>
          </a:p>
          <a:p>
            <a:pPr algn="l">
              <a:spcAft>
                <a:spcPts val="675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5 · 撐住 3018 筆大資料（L4）</a:t>
            </a:r>
          </a:p>
          <a:p>
            <a:pPr algn="l">
              <a:spcAft>
                <a:spcPts val="675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6 · 親手造一支新工具,給 LLM 新能力（L5）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1509" y="4354829"/>
            <a:ext cx="781812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7B5CF5"/>
                </a:solidFill>
                <a:latin typeface="Calibri"/>
              </a:rPr>
              <a:t>接下來 Segment 5：3 支工具 → 239 支工具,真實上線會遇到的 scale / 品質 / 成本。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A   R U N   L O C A L L 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想在自己電腦跑（課後）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Colab 是零安裝版;要在本機跑完整 web 版照這四步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582930" y="1783080"/>
            <a:ext cx="8229600" cy="1851660"/>
          </a:xfrm>
          <a:prstGeom prst="rect">
            <a:avLst/>
          </a:prstGeom>
          <a:solidFill>
            <a:srgbClr val="1A2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386" y="1933956"/>
            <a:ext cx="7852409" cy="1563624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git clone &lt;repo&gt; &amp;&amp; cd mini-project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./setup.sh                 # 預檢 Node / uv / 套件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cp .env.example .env       # 填入你的 ANTHROPIC_API_KEY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E5E7EB"/>
                </a:solidFill>
                <a:latin typeface="Consolas"/>
              </a:rPr>
              <a:t>cd backend-node &amp;&amp; npm start</a:t>
            </a:r>
          </a:p>
          <a:p>
            <a:pPr algn="l">
              <a:spcAft>
                <a:spcPts val="75"/>
              </a:spcAft>
            </a:pPr>
            <a:r>
              <a:rPr sz="1125" b="0" i="0">
                <a:solidFill>
                  <a:srgbClr val="9CA3AF"/>
                </a:solidFill>
                <a:latin typeface="Consolas"/>
              </a:rPr>
              <a:t># 開 http://localhost:3000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3840479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8669" y="3840479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完整說明見 mini-project/README.md;三關 Lab 手冊在 docs/labs/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附錄 B   T R O U B L E S H O O T I N 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卡點速查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275" b="0" i="1">
                <a:solidFill>
                  <a:srgbClr val="6B7280"/>
                </a:solidFill>
                <a:latin typeface="Calibri"/>
              </a:rPr>
              <a:t>現場最常遇到的幾個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748789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669" y="1837943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聊天介面打不開 / 卡住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669" y="2091689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跑 Colab 附錄 A：cloudflared 開公開網址（新分頁）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930" y="2482596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8669" y="2571750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EADDRINUSE / port 被佔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669" y="2825496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重跑「啟動 server」那格即可（會自動殺舊的再起）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2930" y="3216402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669" y="3305556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key 格式錯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669" y="3559302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確認以 sk-ant- 開頭;或用 Colab 🔑 Secrets 設 ANTHROPIC_API_KEY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2930" y="3950208"/>
            <a:ext cx="8229600" cy="65150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669" y="4039362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5B3ED9"/>
                </a:solidFill>
                <a:latin typeface="Calibri"/>
              </a:rPr>
              <a:t>改了檔卻沒生效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669" y="4293108"/>
            <a:ext cx="78181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374151"/>
                </a:solidFill>
                <a:latin typeface="Calibri"/>
              </a:rPr>
              <a:t>→ 回去重跑「啟動 / 重啟 server」那格讓改動套用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