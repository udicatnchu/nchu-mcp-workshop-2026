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Example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 Sonnet 流程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74320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432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查詢範例：</a:t>
            </a:r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「中興大學圖書館有什麼新書？」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以下我們將逐步走過這個查詢從使用者送出到收到回覆的完整流程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44752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4208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64208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51760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71216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71216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58768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78224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78224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65776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85232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5232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72784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79792" y="4389120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99248" y="4389120"/>
            <a:ext cx="987552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44074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99248" y="46268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1：使用者送出查詢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2646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瀏覽器透過 POST /api/chat/stream 送出訊息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需攜帶 Chat Token（經 Turnstile 驗證）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4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48056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（尚未建立 messages）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7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1" name="Shape 58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3" name="Shape 60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5" name="Shape 62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7" name="Shape 64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9" name="Shape 66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1" name="Shape 68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3" name="Shape 70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5" name="Shape 72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7" name="Text 74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2：ChatController 接收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1426464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92224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Chat Token → 解析 JWT 取得登入資訊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注入「當前時間」與「登入狀態」到 system prompt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3931920"/>
            <a:ext cx="3474720" cy="731520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56" name="Text 53"/>
          <p:cNvSpPr/>
          <p:nvPr/>
        </p:nvSpPr>
        <p:spPr>
          <a:xfrm>
            <a:off x="640080" y="39502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注入後的 System Prompt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40080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你是中興大學智慧助理「TARA」...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[注入] 時間：2026-03-30 10:15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[注入] 登入：SSO user_id: s12345678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7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48056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（尚未建立 messages）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60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4" name="Shape 61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6" name="Shape 63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8" name="Shape 65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0" name="Shape 67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2" name="Shape 69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4" name="Shape 71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6" name="Shape 73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8" name="Shape 75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0" name="Text 77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3：raw-mcp-client 準備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14264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926080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messages 陣列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maxIterations = 7，準備進入 agentic loop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4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315968" y="2880360"/>
            <a:ext cx="4352544" cy="347472"/>
          </a:xfrm>
          <a:prstGeom prst="rect">
            <a:avLst/>
          </a:prstGeom>
          <a:solidFill>
            <a:srgbClr val="F0EE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212080" y="28986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你是中興大學智慧助理「TARA」... [已注入時間 + 登入資訊]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315968" y="3282696"/>
            <a:ext cx="4352544" cy="347472"/>
          </a:xfrm>
          <a:prstGeom prst="rect">
            <a:avLst/>
          </a:prstGeom>
          <a:solidFill>
            <a:srgbClr val="E6F1FB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389120" y="33009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5212080" y="33009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Shape 62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6" name="Shape 63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8" name="Shape 65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0" name="Shape 67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2" name="Shape 69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4" name="Shape 71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6" name="Shape 73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8" name="Shape 75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0" name="Shape 77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2" name="Text 79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4：第 1 輪 — 送往 Sonnet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1426464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59936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 將 messages 送往 Claude Sonnet API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模型分析問題後，決定呼叫工具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5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0" name="Text 57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315968" y="2880360"/>
            <a:ext cx="4352544" cy="347472"/>
          </a:xfrm>
          <a:prstGeom prst="rect">
            <a:avLst/>
          </a:prstGeom>
          <a:solidFill>
            <a:srgbClr val="F0EE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5212080" y="28986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Prompt（靜態 config）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315968" y="3282696"/>
            <a:ext cx="4352544" cy="347472"/>
          </a:xfrm>
          <a:prstGeom prst="rect">
            <a:avLst/>
          </a:prstGeom>
          <a:solidFill>
            <a:srgbClr val="E6F1FB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389120" y="33009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5212080" y="33009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65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9" name="Shape 66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1" name="Shape 68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3" name="Shape 70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5" name="Shape 72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7" name="Shape 74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9" name="Shape 76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1" name="Shape 78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3" name="Shape 80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5" name="Text 82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5：Sonnet 回傳 tool_use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1426464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193792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= "tool_use"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模型要呼叫 search_new_books 工具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5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0" name="Text 57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315968" y="2880360"/>
            <a:ext cx="4352544" cy="347472"/>
          </a:xfrm>
          <a:prstGeom prst="rect">
            <a:avLst/>
          </a:prstGeom>
          <a:solidFill>
            <a:srgbClr val="F0EEFF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5212080" y="28986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Prompt（靜態 config）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315968" y="3282696"/>
            <a:ext cx="4352544" cy="347472"/>
          </a:xfrm>
          <a:prstGeom prst="rect">
            <a:avLst/>
          </a:prstGeom>
          <a:solidFill>
            <a:srgbClr val="E6F1FB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389120" y="33009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5212080" y="33009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4315968" y="3685032"/>
            <a:ext cx="4352544" cy="347472"/>
          </a:xfrm>
          <a:prstGeom prst="rect">
            <a:avLst/>
          </a:prstGeom>
          <a:solidFill>
            <a:srgbClr val="E1F5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389120" y="37033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212080" y="37033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我需要查詢圖書館的新書資訊。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4315968" y="4087368"/>
            <a:ext cx="4352544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389120" y="410565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5212080" y="41056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search_new_books({   "query": "新書", "limit": 10 })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Shape 71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5" name="Shape 72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7" name="Shape 74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9" name="Shape 76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1" name="Shape 78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3" name="Shape 80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5" name="Shape 82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7" name="Shape 84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9" name="Shape 86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1" name="Text 88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6：執行 MCP 工具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26464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27648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mcp/server-connection.js 呼叫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search_new_books Python 腳本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858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自動注入 user_id 給工具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6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1" name="Text 58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輪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315968" y="2880360"/>
            <a:ext cx="4352544" cy="312725"/>
          </a:xfrm>
          <a:prstGeom prst="rect">
            <a:avLst/>
          </a:prstGeom>
          <a:solidFill>
            <a:srgbClr val="F0EEFF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212080" y="2898648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Prompt（靜態 config）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315968" y="3247949"/>
            <a:ext cx="4352544" cy="312725"/>
          </a:xfrm>
          <a:prstGeom prst="rect">
            <a:avLst/>
          </a:prstGeom>
          <a:solidFill>
            <a:srgbClr val="E6F1FB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389120" y="326623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5212080" y="3266237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315968" y="3615538"/>
            <a:ext cx="4352544" cy="312725"/>
          </a:xfrm>
          <a:prstGeom prst="rect">
            <a:avLst/>
          </a:prstGeom>
          <a:solidFill>
            <a:srgbClr val="E1F5EE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389120" y="363382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212080" y="3633826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我需要查詢圖書館的新書資訊。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4315968" y="3983126"/>
            <a:ext cx="4352544" cy="312725"/>
          </a:xfrm>
          <a:prstGeom prst="rect">
            <a:avLst/>
          </a:prstGeom>
          <a:solidFill>
            <a:srgbClr val="FFF3E0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89120" y="400141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212080" y="4001414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search_new_books({...})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315968" y="4350715"/>
            <a:ext cx="4352544" cy="312725"/>
          </a:xfrm>
          <a:prstGeom prst="rect">
            <a:avLst/>
          </a:prstGeom>
          <a:solidFill>
            <a:srgbClr val="FAEED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89120" y="4369003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5212080" y="4369003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[{"title":"深度學習入門",...},  {"title":"量子計算導論",...},  ...共 10 筆...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8" name="Shape 75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9" name="Shape 76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1" name="Shape 78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3" name="Shape 80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5" name="Shape 82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7" name="Shape 84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9" name="Shape 86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1" name="Shape 88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3" name="Shape 90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5" name="Text 92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7：第 2 輪 — 帶工具結果回 Sonnet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1426464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59936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工具結果追加到 messages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是 tool_use → 繼續迭代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858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再次送往 Sonnet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6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1" name="Text 58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315968" y="2880360"/>
            <a:ext cx="4352544" cy="312725"/>
          </a:xfrm>
          <a:prstGeom prst="rect">
            <a:avLst/>
          </a:prstGeom>
          <a:solidFill>
            <a:srgbClr val="F0EE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212080" y="2898648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Prompt（靜態 config）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315968" y="3247949"/>
            <a:ext cx="4352544" cy="312725"/>
          </a:xfrm>
          <a:prstGeom prst="rect">
            <a:avLst/>
          </a:prstGeom>
          <a:solidFill>
            <a:srgbClr val="E6F1FB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389120" y="326623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5212080" y="3266237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315968" y="3615538"/>
            <a:ext cx="4352544" cy="312725"/>
          </a:xfrm>
          <a:prstGeom prst="rect">
            <a:avLst/>
          </a:prstGeom>
          <a:solidFill>
            <a:srgbClr val="E1F5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389120" y="363382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212080" y="3633826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我需要查詢圖書館的新書資訊。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4315968" y="3983126"/>
            <a:ext cx="4352544" cy="312725"/>
          </a:xfrm>
          <a:prstGeom prst="rect">
            <a:avLst/>
          </a:prstGeom>
          <a:solidFill>
            <a:srgbClr val="FFF3E0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89120" y="400141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212080" y="4001414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search_new_books({...})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315968" y="4350715"/>
            <a:ext cx="4352544" cy="312725"/>
          </a:xfrm>
          <a:prstGeom prst="rect">
            <a:avLst/>
          </a:prstGeom>
          <a:solidFill>
            <a:srgbClr val="FAEED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89120" y="4369003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5212080" y="4369003"/>
            <a:ext cx="324612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 筆新書結果]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8" name="Shape 75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9" name="Shape 76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1" name="Shape 78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3" name="Shape 80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5" name="Shape 82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7" name="Shape 84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9" name="Shape 86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1" name="Shape 88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3" name="Shape 90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5" name="Text 92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8：Sonnet 產生最終回覆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1426464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193792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6150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150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回覆用戶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= "end_turn"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模型不再呼叫工具，輸出新書清單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858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結束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6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1" name="Text 58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315968" y="2880360"/>
            <a:ext cx="4352544" cy="251460"/>
          </a:xfrm>
          <a:prstGeom prst="rect">
            <a:avLst/>
          </a:prstGeom>
          <a:solidFill>
            <a:srgbClr val="F0EEFF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212080" y="2898648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Prompt（靜態 config）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315968" y="3186684"/>
            <a:ext cx="4352544" cy="251460"/>
          </a:xfrm>
          <a:prstGeom prst="rect">
            <a:avLst/>
          </a:prstGeom>
          <a:solidFill>
            <a:srgbClr val="E6F1FB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389120" y="32049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5212080" y="3204972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315968" y="3493008"/>
            <a:ext cx="4352544" cy="251460"/>
          </a:xfrm>
          <a:prstGeom prst="rect">
            <a:avLst/>
          </a:prstGeom>
          <a:solidFill>
            <a:srgbClr val="E1F5EE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389120" y="351129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212080" y="3511296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我需要查詢圖書館的新書資訊。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4315968" y="3799332"/>
            <a:ext cx="4352544" cy="251460"/>
          </a:xfrm>
          <a:prstGeom prst="rect">
            <a:avLst/>
          </a:prstGeom>
          <a:solidFill>
            <a:srgbClr val="FFF3E0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89120" y="38176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212080" y="3817620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search_new_books({...})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315968" y="4105656"/>
            <a:ext cx="4352544" cy="251460"/>
          </a:xfrm>
          <a:prstGeom prst="rect">
            <a:avLst/>
          </a:prstGeom>
          <a:solidFill>
            <a:srgbClr val="FAEEDA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89120" y="41239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5212080" y="4123944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 筆新書結果]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4315968" y="4411980"/>
            <a:ext cx="4352544" cy="251460"/>
          </a:xfrm>
          <a:prstGeom prst="rect">
            <a:avLst/>
          </a:prstGeom>
          <a:solidFill>
            <a:srgbClr val="E1F5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389120" y="44302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12080" y="4430268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以下是圖書館最新書籍：1.《深度學習入門》2.《量子計算導論》...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1" name="Shape 78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2" name="Shape 79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4" name="Shape 81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6" name="Shape 83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8" name="Shape 85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0" name="Shape 87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2" name="Shape 89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Shape 91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6" name="Shape 93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8" name="Text 95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9：SSE 串流回覆給用戶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「中興大學圖書館有什麼新書？」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8249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50208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59936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59936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claude-client.js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84064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93792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93792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0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27648" y="1371600"/>
            <a:ext cx="1024128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27648" y="16459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mcp/*.js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51776" y="1371600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61504" y="1371600"/>
            <a:ext cx="1024128" cy="530352"/>
          </a:xfrm>
          <a:prstGeom prst="rect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696" y="1426464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461504" y="1673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Loop：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737360" y="20574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84832" y="20574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8483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32304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32304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79776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7977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127248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27248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474720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22192" y="205740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回覆透過 SSE 逐段送回瀏覽器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858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前端即時顯示打字效果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858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整個流程完成！共 2 輪迭代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3931920"/>
            <a:ext cx="3474720" cy="7315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8" name="Text 55"/>
          <p:cNvSpPr/>
          <p:nvPr/>
        </p:nvSpPr>
        <p:spPr>
          <a:xfrm>
            <a:off x="640080" y="39502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串流事件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40080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response_end  → stop_reason: end_turn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         → 串流結束，共 2 輪迭代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206240" y="24688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206240" y="246888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59"/>
          <p:cNvSpPr/>
          <p:nvPr/>
        </p:nvSpPr>
        <p:spPr>
          <a:xfrm>
            <a:off x="4343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陣列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4" name="Text 61"/>
          <p:cNvSpPr/>
          <p:nvPr/>
        </p:nvSpPr>
        <p:spPr>
          <a:xfrm>
            <a:off x="76809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輪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315968" y="2880360"/>
            <a:ext cx="4352544" cy="251460"/>
          </a:xfrm>
          <a:prstGeom prst="rect">
            <a:avLst/>
          </a:prstGeom>
          <a:solidFill>
            <a:srgbClr val="F0EEFF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389120" y="2898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5212080" y="2898648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315968" y="3186684"/>
            <a:ext cx="4352544" cy="251460"/>
          </a:xfrm>
          <a:prstGeom prst="rect">
            <a:avLst/>
          </a:prstGeom>
          <a:solidFill>
            <a:srgbClr val="E6F1FB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389120" y="32049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212080" y="3204972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4315968" y="3493008"/>
            <a:ext cx="4352544" cy="251460"/>
          </a:xfrm>
          <a:prstGeom prst="rect">
            <a:avLst/>
          </a:prstGeom>
          <a:solidFill>
            <a:srgbClr val="E1F5EE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89120" y="351129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212080" y="3511296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（第 1 輪）我需要查詢...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315968" y="3799332"/>
            <a:ext cx="4352544" cy="251460"/>
          </a:xfrm>
          <a:prstGeom prst="rect">
            <a:avLst/>
          </a:prstGeom>
          <a:solidFill>
            <a:srgbClr val="FFF3E0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89120" y="38176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5212080" y="3817620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search_new_books({...})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4315968" y="4105656"/>
            <a:ext cx="4352544" cy="251460"/>
          </a:xfrm>
          <a:prstGeom prst="rect">
            <a:avLst/>
          </a:prstGeom>
          <a:solidFill>
            <a:srgbClr val="FAEEDA">
              <a:alpha val="4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389120" y="41239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12080" y="4123944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 筆結果]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4315968" y="4411980"/>
            <a:ext cx="4352544" cy="251460"/>
          </a:xfrm>
          <a:prstGeom prst="rect">
            <a:avLst/>
          </a:prstGeom>
          <a:solidFill>
            <a:srgbClr val="E1F5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389120" y="44302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5212080" y="4430268"/>
            <a:ext cx="3246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以下是圖書館最新書籍：1.《深度學習入門》2.《量子計算導論》...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4" name="Shape 81"/>
          <p:cNvSpPr/>
          <p:nvPr/>
        </p:nvSpPr>
        <p:spPr>
          <a:xfrm>
            <a:off x="6400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5" name="Shape 82"/>
          <p:cNvSpPr/>
          <p:nvPr/>
        </p:nvSpPr>
        <p:spPr>
          <a:xfrm>
            <a:off x="8412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5087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7" name="Shape 84"/>
          <p:cNvSpPr/>
          <p:nvPr/>
        </p:nvSpPr>
        <p:spPr>
          <a:xfrm>
            <a:off x="17099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9" name="Shape 86"/>
          <p:cNvSpPr/>
          <p:nvPr/>
        </p:nvSpPr>
        <p:spPr>
          <a:xfrm>
            <a:off x="25786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24612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1" name="Shape 88"/>
          <p:cNvSpPr/>
          <p:nvPr/>
        </p:nvSpPr>
        <p:spPr>
          <a:xfrm>
            <a:off x="344728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11480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3" name="Shape 90"/>
          <p:cNvSpPr/>
          <p:nvPr/>
        </p:nvSpPr>
        <p:spPr>
          <a:xfrm>
            <a:off x="431596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98348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5" name="Shape 92"/>
          <p:cNvSpPr/>
          <p:nvPr/>
        </p:nvSpPr>
        <p:spPr>
          <a:xfrm>
            <a:off x="518464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85216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7" name="Shape 94"/>
          <p:cNvSpPr/>
          <p:nvPr/>
        </p:nvSpPr>
        <p:spPr>
          <a:xfrm>
            <a:off x="605332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720840" y="4892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9" name="Shape 96"/>
          <p:cNvSpPr/>
          <p:nvPr/>
        </p:nvSpPr>
        <p:spPr>
          <a:xfrm>
            <a:off x="6922008" y="4992624"/>
            <a:ext cx="66751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1" name="Text 98"/>
          <p:cNvSpPr/>
          <p:nvPr/>
        </p:nvSpPr>
        <p:spPr>
          <a:xfrm>
            <a:off x="8229600" y="4873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原始流程回顧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 System Prompt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僅有 config.json 的固定角色設定 + ChatController 注入的時間/登入資訊。沒有工具選擇規則，也沒有回覆格式規範。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模型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Claude Sonnet（$3.00/1M input tokens），能力強但成本高。模型自行判斷要呼叫哪些工具。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Few-shot 引導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沒有歷史範例告訴模型「這類問題該怎麼回答」，完全依賴模型本身的能力。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回覆格式不一致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最後一輪只說「不要用工具，直接回覆」，沒有結構化 Markdown 格式要求，回覆品質不穩定。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下一章：Haiku Alignment 如何改善這些問題？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原始 Sonnet 流程 — Running Example</dc:title>
  <dc:subject>PptxGenJS Presentation</dc:subject>
  <dc:creator>Yao-Chung</dc:creator>
  <cp:lastModifiedBy>Yao-Chung</cp:lastModifiedBy>
  <cp:revision>1</cp:revision>
  <dcterms:created xsi:type="dcterms:W3CDTF">2026-03-30T02:45:16Z</dcterms:created>
  <dcterms:modified xsi:type="dcterms:W3CDTF">2026-03-30T02:45:16Z</dcterms:modified>
</cp:coreProperties>
</file>