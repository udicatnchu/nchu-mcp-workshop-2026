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27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B2C3D4-5678-9012-ABCD-EF1234567890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MCP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LLM 的局限到 Model Context Protocol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0" y="3291840"/>
            <a:ext cx="3657600" cy="0"/>
          </a:xfrm>
          <a:prstGeom prst="line">
            <a:avLst/>
          </a:prstGeom>
          <a:noFill/>
          <a:ln w="25400">
            <a:solidFill>
              <a:srgbClr val="E879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入門工作坊  ｜  第一講（50 min）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國立中興大學  ·  AI 學伴系統實務案例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本講大綱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533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12618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能做什麼？不能做什麼？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48840" y="1618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理解大型語言模型的能力邊界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03120"/>
            <a:ext cx="6400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2" name="Text 9"/>
          <p:cNvSpPr/>
          <p:nvPr/>
        </p:nvSpPr>
        <p:spPr>
          <a:xfrm>
            <a:off x="914400" y="21031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26771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48840" y="21762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三種延伸策略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148840" y="2532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RAG、Tool Use、MCP 深入比較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017520"/>
            <a:ext cx="6400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8" name="Text 14"/>
          <p:cNvSpPr/>
          <p:nvPr/>
        </p:nvSpPr>
        <p:spPr>
          <a:xfrm>
            <a:off x="914400" y="30175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18211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48840" y="30906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核心概念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148840" y="34472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 Client / Server / Tool 架構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931920"/>
            <a:ext cx="64008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24" name="Text 19"/>
          <p:cNvSpPr/>
          <p:nvPr/>
        </p:nvSpPr>
        <p:spPr>
          <a:xfrm>
            <a:off x="914400" y="39319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09651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48840" y="400507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實際案例：興大 AI 學伴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148840" y="43616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個 MCP 工具的校園應用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擅長什麼？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874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463040"/>
            <a:ext cx="594360" cy="594360"/>
          </a:xfrm>
          <a:prstGeom prst="ellipse">
            <a:avLst/>
          </a:prstGeom>
          <a:solidFill>
            <a:srgbClr val="2D9F6F"/>
          </a:solidFill>
          <a:ln>
            <a:noFill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572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語言理解與生成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翻譯、摘要、改寫、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多語言對話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97480" y="1188720"/>
            <a:ext cx="1874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463040"/>
            <a:ext cx="594360" cy="594360"/>
          </a:xfrm>
          <a:prstGeom prst="ellipse">
            <a:avLst/>
          </a:prstGeom>
          <a:solidFill>
            <a:srgbClr val="2D9F6F"/>
          </a:solidFill>
          <a:ln>
            <a:noFill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5727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240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推理與分析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834640" y="269748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邏輯推導、比較分析、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188720"/>
            <a:ext cx="1874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94960" y="1463040"/>
            <a:ext cx="594360" cy="594360"/>
          </a:xfrm>
          <a:prstGeom prst="ellipse">
            <a:avLst/>
          </a:prstGeom>
          <a:solidFill>
            <a:srgbClr val="2D9F6F"/>
          </a:solidFill>
          <a:ln>
            <a:noFill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5727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240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程式碼生成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92040" y="269748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撰寫、除錯、解釋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多種程式語言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12280" y="1188720"/>
            <a:ext cx="18745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52360" y="1463040"/>
            <a:ext cx="594360" cy="594360"/>
          </a:xfrm>
          <a:prstGeom prst="ellipse">
            <a:avLst/>
          </a:prstGeom>
          <a:solidFill>
            <a:srgbClr val="2D9F6F"/>
          </a:solidFill>
          <a:ln>
            <a:noFill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5727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240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知識回答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49440" y="269748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基於訓練資料的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常識與專業知識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這些能力來自訓練階段學到的「靜態知識」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的天花板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64008" cy="77724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61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43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知識截止日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89120" y="114300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訓練資料有日期上限，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無法回答「今天」的事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874520"/>
            <a:ext cx="64008" cy="77724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391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920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沒有私有資料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89120" y="192024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不知道你的課表、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圖書館藏書、校內公告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265176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51760"/>
            <a:ext cx="64008" cy="77724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1635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無法執行動作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389120" y="269748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不能幫你查詢系統、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預約空間、操作 API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429000"/>
            <a:ext cx="78638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429000"/>
            <a:ext cx="64008" cy="77724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9359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4747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會幻覺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389120" y="347472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不確定時仍自信回答，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編造看起來合理的資訊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25" name="Text 19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核心問題：如何讓 LLM 存取「外部世界」的資訊與功能？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三種延伸策略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·  Tool Use  ·  MCP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47472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329184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474720"/>
            <a:ext cx="548640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0" y="329184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747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策略 A：RAG（Retrieval-Augmented Generation）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使用者提問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55448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向量資料庫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相似度搜尋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188720"/>
            <a:ext cx="155448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取回相關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文件片段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1188720"/>
            <a:ext cx="155448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 Prompt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回答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3657600" cy="411480"/>
          </a:xfrm>
          <a:prstGeom prst="rect">
            <a:avLst/>
          </a:prstGeom>
          <a:solidFill>
            <a:srgbClr val="2D9F6F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0080" y="2651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降低幻覺 — 有引用來源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存取私有資料（文件、知識庫）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不需重新訓練模型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65176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651760"/>
            <a:ext cx="3657600" cy="41148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4846320" y="2651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315468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只能「讀」— 無法執行動作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檢索品質依賴 embedding 與切塊策略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結構化查詢（如 SQL）支援差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— 概念程式碼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47472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使用者提問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query 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"中興大學圖書館有什麼 AI 相關的書？"
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轉成向量，在資料庫中搜尋最相似的文件片段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embedding =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embed_model.encode(query)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relevant_docs =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vector_db.search(embedding, top_k=5)
</a:t>
            </a:r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把搜尋結果塞進 prompt，交給 LLM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prompt =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f"根據以下資料回答問題:\n{relevant_docs}\n\n問題：{query}"
</a:t>
            </a:r>
            <a:pPr indent="0" marL="0"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response =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llm.generate(prompt)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策略 B：Tool Use（Function Calling）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使用者提問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155448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solidFill>
            <a:srgbClr val="E8793A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函式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188720"/>
            <a:ext cx="1554480" cy="109728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取得執行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1371600"/>
            <a:ext cx="228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93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06640" y="1188720"/>
            <a:ext cx="1554480" cy="109728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188720"/>
            <a:ext cx="1554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整合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關鍵差異：LLM 自己決定「要不要用工具」以及「用哪一個」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47472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solidFill>
            <a:srgbClr val="2D9F6F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能「做事」— 查詢、計算、操作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結構化輸入輸出（JSON Schema）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47472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474720"/>
            <a:ext cx="3657600" cy="365760"/>
          </a:xfrm>
          <a:prstGeom prst="rect">
            <a:avLst/>
          </a:prstGeom>
          <a:solidFill>
            <a:srgbClr val="D94452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4846320" y="3474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每家 API 格式不同（vendor lock-in）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工具要寫死在應用程式裡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— Claude API 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定義工具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[{
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name: "search_library_books",
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description: "搜尋圖書館館藏",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input_schema: {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type: "object",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properties: { keyword: { type: "string" } }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
}]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回傳 → tool_use block
</a:t>
            </a:r>
            <a:pPr indent="0" marL="0">
              <a:buNone/>
            </a:pPr>
            <a:r>
              <a:rPr lang="en-US" sz="11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"tool_use",
</a:t>
            </a:r>
            <a:pPr indent="0" marL="0">
              <a:buNone/>
            </a:pP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name: "search_library_books",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input: { keyword: "人工智慧" } }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的痛點：每個應用都要重做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432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520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188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圖書館 DB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9659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課程系統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274320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7432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教師資料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52044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520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校內公告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182880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944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× 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D944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個別整合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651760" y="1481328"/>
            <a:ext cx="3840480" cy="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651760" y="1481328"/>
            <a:ext cx="3840480" cy="155448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651760" y="2258568"/>
            <a:ext cx="3840480" cy="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651760" y="2258568"/>
            <a:ext cx="3840480" cy="155448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651760" y="3035808"/>
            <a:ext cx="3840480" cy="-155448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651760" y="3035808"/>
            <a:ext cx="3840480" cy="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51760" y="3813048"/>
            <a:ext cx="3840480" cy="-155448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651760" y="3813048"/>
            <a:ext cx="3840480" cy="0"/>
          </a:xfrm>
          <a:prstGeom prst="line">
            <a:avLst/>
          </a:prstGeom>
          <a:noFill/>
          <a:ln w="6350">
            <a:solidFill>
              <a:srgbClr val="D9445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 AI 應用 × 4 個資料源 = 16 個 connector，而且格式各不相同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策略 C：MCP（Model Context Protocol）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48132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225856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432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303580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20440"/>
            <a:ext cx="201168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520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381304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005840"/>
            <a:ext cx="2011680" cy="3200400"/>
          </a:xfrm>
          <a:prstGeom prst="rect">
            <a:avLst/>
          </a:prstGeom>
          <a:solidFill>
            <a:srgbClr val="2D9F6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005840"/>
            <a:ext cx="20116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
</a:t>
            </a:r>
            <a:endParaRPr lang="en-US" sz="2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統一協定
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577840" y="148132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18872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1887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圖書館 DB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225856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196596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75120" y="196596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課程系統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303580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274320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27432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教師資料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3813048"/>
            <a:ext cx="1097280" cy="0"/>
          </a:xfrm>
          <a:prstGeom prst="line">
            <a:avLst/>
          </a:prstGeom>
          <a:noFill/>
          <a:ln w="25400">
            <a:solidFill>
              <a:srgbClr val="2D9F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solidFill>
            <a:srgbClr val="1C7293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校內公告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寫一次 MCP Server，所有 AI 應用都能用 — 像 USB-C 一樣的標準介面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三者比較總覽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核心能力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檢索文件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執行功能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檢索 + 執行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標準化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角色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只讀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中的資訊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決定呼叫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哪個函式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透過 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調度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整合方式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向量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各家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各寫一套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統一 JSON-RPC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協定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可重用性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綁定單一應用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綁定單一應用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應用共用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即時資料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需重新索引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可即時查詢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可即時查詢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執行動作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維護成本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高（N×M）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低（N+M）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什麼時候用哪一種？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內部知識庫問答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文件搜尋與摘要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 FAQ 系統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" y="3520440"/>
            <a:ext cx="2423160" cy="777240"/>
          </a:xfrm>
          <a:prstGeom prst="rect">
            <a:avLst/>
          </a:prstGeom>
          <a:solidFill>
            <a:srgbClr val="E8EDF5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685800" y="3566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最適合：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8404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大量非結構化文本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097280"/>
            <a:ext cx="2697480" cy="731520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2344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0972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2044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22860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呼叫特定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資料庫查詢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計算或產生圖表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74720" y="3520440"/>
            <a:ext cx="2423160" cy="777240"/>
          </a:xfrm>
          <a:prstGeom prst="rect">
            <a:avLst/>
          </a:prstGeom>
          <a:solidFill>
            <a:srgbClr val="E8EDF5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3566160" y="3566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最適合：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66160" y="38404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少量、固定的工具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217920" y="1097280"/>
            <a:ext cx="2697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097280"/>
            <a:ext cx="269748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0" y="109728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400800" y="19659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00800" y="2286000"/>
            <a:ext cx="23317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多系統整合平台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校園/企業助手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跨應用共享工具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355080" y="3520440"/>
            <a:ext cx="2423160" cy="777240"/>
          </a:xfrm>
          <a:prstGeom prst="rect">
            <a:avLst/>
          </a:prstGeom>
          <a:solidFill>
            <a:srgbClr val="E8EDF5"/>
          </a:solidFill>
          <a:ln>
            <a:noFill/>
          </a:ln>
        </p:spPr>
      </p:sp>
      <p:sp>
        <p:nvSpPr>
          <p:cNvPr id="29" name="Text 24"/>
          <p:cNvSpPr/>
          <p:nvPr/>
        </p:nvSpPr>
        <p:spPr>
          <a:xfrm>
            <a:off x="6446520" y="35661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最適合：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46520" y="38404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工具多、需跨應用重用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它們不是互斥的 — 可以混用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347472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463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文件知識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語義搜尋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188720"/>
            <a:ext cx="3474720" cy="3200400"/>
          </a:xfrm>
          <a:prstGeom prst="ellipse">
            <a:avLst/>
          </a:prstGeom>
          <a:solidFill>
            <a:srgbClr val="E8793A">
              <a:alpha val="25000"/>
            </a:srgbClr>
          </a:solidFill>
          <a:ln w="25400">
            <a:solidFill>
              <a:srgbClr val="E87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4630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呼叫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動作執行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657600"/>
            <a:ext cx="45720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1828800" y="3931920"/>
            <a:ext cx="548640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39319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可以同時提供 RAG 式的檢索資源 和 Tool Use 式的可執行工具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可同時包含兩者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核心概念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 ·  Client  ·  Server  ·  Tool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架構四大角色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116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01168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3464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使用者介面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（如 Claude Desktop、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Web App）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051560"/>
            <a:ext cx="20116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051560"/>
            <a:ext cx="201168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sp>
        <p:nvSpPr>
          <p:cNvPr id="12" name="Text 9"/>
          <p:cNvSpPr/>
          <p:nvPr/>
        </p:nvSpPr>
        <p:spPr>
          <a:xfrm>
            <a:off x="256032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00400" y="1920240"/>
            <a:ext cx="731520" cy="731520"/>
          </a:xfrm>
          <a:prstGeom prst="ellipse">
            <a:avLst/>
          </a:prstGeom>
          <a:solidFill>
            <a:srgbClr val="E8EDF5"/>
          </a:solidFill>
          <a:ln>
            <a:noFill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57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83464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協定客戶端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負責與 Server 建立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連線、傳遞訊息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1051560"/>
            <a:ext cx="20116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1051560"/>
            <a:ext cx="20116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8" name="Text 14"/>
          <p:cNvSpPr/>
          <p:nvPr/>
        </p:nvSpPr>
        <p:spPr>
          <a:xfrm>
            <a:off x="475488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394960" y="1920240"/>
            <a:ext cx="731520" cy="731520"/>
          </a:xfrm>
          <a:prstGeom prst="ellipse">
            <a:avLst/>
          </a:prstGeom>
          <a:solidFill>
            <a:srgbClr val="E8EDF5"/>
          </a:solidFill>
          <a:ln>
            <a:noFill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0574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283464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服務端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包裝外部資源為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標準化工具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949440" y="1051560"/>
            <a:ext cx="20116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9440" y="1051560"/>
            <a:ext cx="2011680" cy="640080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24" name="Text 19"/>
          <p:cNvSpPr/>
          <p:nvPr/>
        </p:nvSpPr>
        <p:spPr>
          <a:xfrm>
            <a:off x="694944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589520" y="1920240"/>
            <a:ext cx="731520" cy="731520"/>
          </a:xfrm>
          <a:prstGeom prst="ellipse">
            <a:avLst/>
          </a:prstGeom>
          <a:solidFill>
            <a:srgbClr val="E8EDF5"/>
          </a:solidFill>
          <a:ln>
            <a:noFill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05740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86600" y="2834640"/>
            <a:ext cx="1737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具體功能定義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 search_books、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get_courses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377440" y="1188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793A"/>
                </a:solidFill>
              </a:rPr>
              <a:t>→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4572000" y="1188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793A"/>
                </a:solidFill>
              </a:rPr>
              <a:t>→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766560" y="11887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793A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32" name="Text 26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類比：Host = 瀏覽器、Client = HTTP 客戶端、Server = Web Server、Tool = API Endpoint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如何溝通？— JSON-RPC 2.0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Server (Request)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"jsonrpc": "2.0",
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"method": "tools/call",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"params": {
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"name": "search_books",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"arguments": {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"keyword": "AI"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"id":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 (Response)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"jsonrpc": "2.0",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"result": {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"content": [{
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"type": "text",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"text": "找到 3 本..."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"id":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MCP 通訊用同一格式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65760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3657600"/>
            <a:ext cx="64008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3520440" y="3703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40690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可呼叫 Server，Server 也可通知 Client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269748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657600"/>
            <a:ext cx="64008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00800" y="3703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傳輸無關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40690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stdio、HTTP+SSE、WebSocket 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879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實際案例：興大 AI 學伴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個 MCP Tools  ·  9 大類  ·  真實上線運作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個 MCP 工具 — 九大分類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課程查詢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2468880" y="1097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search_courses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get_department_courses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get_teacher_courses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97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3337560" y="1051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圖書資源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10972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5349240" y="1097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5087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search_library_books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get_loan_history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get_elearning_resources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6217920" y="1051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教師研究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10972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8229600" y="1097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15087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search_teachers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get_research_projects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get_teacher_orcid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06040"/>
            <a:ext cx="26974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457200" y="2606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學術規劃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68880" y="26517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46888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063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get_cross_program_courses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get_dual_degrees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get_education_programs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260604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2606040"/>
            <a:ext cx="269748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3337560" y="2606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校園資源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49240" y="26517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534924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63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get_activities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get_campus_news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book_space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60604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606040"/>
            <a:ext cx="2697480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6217920" y="2606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行政法規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229600" y="265176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822960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55080" y="306324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search_regulations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get_academic_standards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get_faqs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每一個工具都是獨立的 MCP Server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用 Python 寫，透過 stdio 與 Node.js Client 通訊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本講重點回顧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有知識截止、無法存取外部系統的先天限制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解決「讀」的問題，Tool Use 解決「做」的問題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Tool Use 有 N×M 整合爆炸的痛點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用統一協定解耦 AI 應用與資料源，實現 N+M 整合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E8793A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興大 AI 學伴用 33 個 MCP 工具服務真實校園需求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7680960" cy="0"/>
          </a:xfrm>
          <a:prstGeom prst="line">
            <a:avLst/>
          </a:prstGeom>
          <a:noFill/>
          <a:ln w="12700">
            <a:solidFill>
              <a:srgbClr val="E879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下一講預告：How MCP Works — 架構與連線機制實作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Use — ChatGPT API 範例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384048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定義工具 — 注意：欄位名稱和結構都跟 Claude 不同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tools: [{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type: "function",              </a:t>
            </a:r>
            <a:r>
              <a:rPr lang="en-US" sz="10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Claude 沒有這個欄位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function: {                    </a:t>
            </a:r>
            <a:r>
              <a:rPr lang="en-US" sz="10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多包一層 function
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name: "search_library_books",
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description: "搜尋圖書館館藏",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parameters: {                </a:t>
            </a:r>
            <a:r>
              <a:rPr lang="en-US" sz="10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Claude 叫 input_schema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type: "object",
      properties: { keyword: { type: "string" } }
    }
  }
}]
</a:t>
            </a: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LLM 回傳 → tool_calls (不是 tool_use)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tool_calls: [{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id: "call_abc123",              </a:t>
            </a:r>
            <a:r>
              <a:rPr lang="en-US" sz="10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需要 call ID
</a:t>
            </a: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type: "function",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function: {
    name: "search_library_books",
    arguments: "{\"keyword\": \"人工智慧\"}"  </a:t>
            </a:r>
            <a:r>
              <a:rPr lang="en-US" sz="1050" dirty="0">
                <a:solidFill>
                  <a:srgbClr val="E87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// 字串，不是物件!
</a:t>
            </a: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
}]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MCP — 從 LLM 的局限到 Model Context Protocol</dc:title>
  <dc:subject>PptxGenJS Presentation</dc:subject>
  <dc:creator>Yao-Chung</dc:creator>
  <cp:lastModifiedBy>Yao-Chung</cp:lastModifiedBy>
  <cp:revision>1</cp:revision>
  <dcterms:created xsi:type="dcterms:W3CDTF">2026-04-09T11:41:40Z</dcterms:created>
  <dcterms:modified xsi:type="dcterms:W3CDTF">2026-04-09T11:41:40Z</dcterms:modified>
</cp:coreProperties>
</file>