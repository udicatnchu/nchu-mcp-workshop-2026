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103120"/>
            <a:ext cx="457200" cy="457200"/>
          </a:xfrm>
          <a:prstGeom prst="rect">
            <a:avLst/>
          </a:prstGeom>
          <a:solidFill>
            <a:srgbClr val="E87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14884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E8793A"/>
                </a:solidFill>
                <a:latin typeface="Calibri"/>
              </a:rPr>
              <a:t>Segment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Arial Black"/>
              </a:rPr>
              <a:t>動手做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93192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0" i="0">
                <a:solidFill>
                  <a:srgbClr val="E8EDF3"/>
                </a:solidFill>
                <a:latin typeface="Calibri"/>
              </a:rPr>
              <a:t>Hands-on Lab · 50 minutes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663440"/>
            <a:ext cx="2286000" cy="36576"/>
          </a:xfrm>
          <a:prstGeom prst="rect">
            <a:avLst/>
          </a:prstGeom>
          <a:solidFill>
            <a:srgbClr val="E87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0060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E8EDF3"/>
                </a:solidFill>
                <a:latin typeface="Calibri"/>
              </a:rPr>
              <a:t>mini-project 實作主場 — 現場跑起你自己領域的 AI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636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1C7293"/>
                </a:solidFill>
                <a:latin typeface="Calibri"/>
              </a:rPr>
              <a:t>NCHU MCP Workshop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26364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1">
                <a:solidFill>
                  <a:srgbClr val="1C7293"/>
                </a:solidFill>
                <a:latin typeface="Consolas"/>
              </a:rPr>
              <a:t>github.com/UDICatNCHU/nchu-mcp-workshop-2026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5156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Arial Black"/>
              </a:rPr>
              <a:t>本節產出物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1">
                <a:solidFill>
                  <a:srgbClr val="1C7293"/>
                </a:solidFill>
                <a:latin typeface="Calibri"/>
              </a:rPr>
              <a:t>50 分鐘後，你將親手擁有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5508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2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2743200" cy="36576"/>
          </a:xfrm>
          <a:prstGeom prst="rect">
            <a:avLst/>
          </a:prstGeom>
          <a:solidFill>
            <a:srgbClr val="E87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6400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E8793A"/>
                </a:solidFill>
                <a:latin typeface="Arial Black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28800"/>
            <a:ext cx="1033272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1A1A1A"/>
                </a:solidFill>
                <a:latin typeface="Calibri"/>
              </a:rPr>
              <a:t>在你自己電腦上跑起來的 MCP agent</a:t>
            </a:r>
          </a:p>
          <a:p>
            <a:pPr algn="l"/>
            <a:r>
              <a:rPr sz="1500" b="0" i="0">
                <a:solidFill>
                  <a:srgbClr val="6B6B6B"/>
                </a:solidFill>
                <a:latin typeface="Calibri"/>
              </a:rPr>
              <a:t>Node.js + Python FastMCP + 極簡 HTML chat，三層完整可運作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80360"/>
            <a:ext cx="6400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E8793A"/>
                </a:solidFill>
                <a:latin typeface="Arial Black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880360"/>
            <a:ext cx="1033272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1A1A1A"/>
                </a:solidFill>
                <a:latin typeface="Calibri"/>
              </a:rPr>
              <a:t>一支「屬於你領域」的客製工具</a:t>
            </a:r>
          </a:p>
          <a:p>
            <a:pPr algn="l"/>
            <a:r>
              <a:rPr sz="1500" b="0" i="0">
                <a:solidFill>
                  <a:srgbClr val="6B6B6B"/>
                </a:solidFill>
                <a:latin typeface="Calibri"/>
              </a:rPr>
              <a:t>換 JSON 就好，0 行 Python；實驗室介紹 / 課程大綱 / 研究成果清單都行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6400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E8793A"/>
                </a:solidFill>
                <a:latin typeface="Arial Black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31920"/>
            <a:ext cx="1033272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1A1A1A"/>
                </a:solidFill>
                <a:latin typeface="Calibri"/>
              </a:rPr>
              <a:t>對 agent 資料流的「實際脈動感」</a:t>
            </a:r>
          </a:p>
          <a:p>
            <a:pPr algn="l"/>
            <a:r>
              <a:rPr sz="1500" b="0" i="0">
                <a:solidFill>
                  <a:srgbClr val="6B6B6B"/>
                </a:solidFill>
                <a:latin typeface="Calibri"/>
              </a:rPr>
              <a:t>工具選擇 → 參數綁定 → LLM 摘要這條路，你會在 terminal 看它一次跑通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983479"/>
            <a:ext cx="6400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E8793A"/>
                </a:solidFill>
                <a:latin typeface="Arial Black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983479"/>
            <a:ext cx="1033272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1A1A1A"/>
                </a:solidFill>
                <a:latin typeface="Calibri"/>
              </a:rPr>
              <a:t>L2 / L3 的明確挑戰路徑</a:t>
            </a:r>
          </a:p>
          <a:p>
            <a:pPr algn="l"/>
            <a:r>
              <a:rPr sz="1500" b="0" i="0">
                <a:solidFill>
                  <a:srgbClr val="6B6B6B"/>
                </a:solidFill>
                <a:latin typeface="Calibri"/>
              </a:rPr>
              <a:t>帶回去繼續深入：加有參數的搜尋工具、呼叫外部 API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5156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Arial Black"/>
              </a:rPr>
              <a:t>50 分鐘時間配置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1">
                <a:solidFill>
                  <a:srgbClr val="1C7293"/>
                </a:solidFill>
                <a:latin typeface="Calibri"/>
              </a:rPr>
              <a:t>講師 10 min 引導 + 40 min 巡場陪跑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5508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3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2743200" cy="36576"/>
          </a:xfrm>
          <a:prstGeom prst="rect">
            <a:avLst/>
          </a:prstGeom>
          <a:solidFill>
            <a:srgbClr val="E87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1097280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01952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時段 (min)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1901952"/>
            <a:ext cx="5943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做什麼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901952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產出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331720"/>
            <a:ext cx="10972800" cy="64008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331720"/>
            <a:ext cx="109728" cy="6400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468879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onsolas"/>
              </a:rPr>
              <a:t>0–10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2468879"/>
            <a:ext cx="5943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講師 demo + 學員同步 ./setup.sh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468879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環境綠燈 5/5 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063239"/>
            <a:ext cx="10972800" cy="64008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063239"/>
            <a:ext cx="109728" cy="6400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200399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C7293"/>
                </a:solidFill>
                <a:latin typeface="Consolas"/>
              </a:rPr>
              <a:t>10–20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3200399"/>
            <a:ext cx="5943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L1 Step 1–2：觀察現況 + 換自己 JSON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200399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data/your.json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794759"/>
            <a:ext cx="10972800" cy="64008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794759"/>
            <a:ext cx="109728" cy="6400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93192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C7293"/>
                </a:solidFill>
                <a:latin typeface="Consolas"/>
              </a:rPr>
              <a:t>20–35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3931920"/>
            <a:ext cx="5943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L1 Step 3–4：改 docstring + 重啟驗證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93192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問自己資料會答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526279"/>
            <a:ext cx="10972800" cy="64008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" y="4526279"/>
            <a:ext cx="109728" cy="6400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66344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onsolas"/>
              </a:rPr>
              <a:t>35–45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6040" y="4663440"/>
            <a:ext cx="5943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交叉展示：3–4 位老師 demo 自己領域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466344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見識不同落地方式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5257799"/>
            <a:ext cx="10972800" cy="64008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" y="5257799"/>
            <a:ext cx="109728" cy="640080"/>
          </a:xfrm>
          <a:prstGeom prst="rect">
            <a:avLst/>
          </a:prstGeom>
          <a:solidFill>
            <a:srgbClr val="E87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394959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E8793A"/>
                </a:solidFill>
                <a:latin typeface="Consolas"/>
              </a:rPr>
              <a:t>45–50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06040" y="5394959"/>
            <a:ext cx="5943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Q&amp;A + 為 L2/L3 與 Segment 5 鋪陳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5394959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清楚下一步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126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6B6B6B"/>
                </a:solidFill>
                <a:latin typeface="Calibri"/>
              </a:rPr>
              <a:t>※ 40 分鐘巡場預計 80% 在幫卡住的老師；開場預演越短，越多時間陪跑。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5156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Arial Black"/>
              </a:rPr>
              <a:t>架構快速回顧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1">
                <a:solidFill>
                  <a:srgbClr val="1C7293"/>
                </a:solidFill>
                <a:latin typeface="Calibri"/>
              </a:rPr>
              <a:t>不是單向 pipeline — Node ⟷ LLM 的多輪迭代才是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5508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4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2743200" cy="36576"/>
          </a:xfrm>
          <a:prstGeom prst="rect">
            <a:avLst/>
          </a:prstGeom>
          <a:solidFill>
            <a:srgbClr val="E87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828800"/>
            <a:ext cx="6949440" cy="86868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828800"/>
            <a:ext cx="137160" cy="8686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192024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65A82"/>
                </a:solidFill>
                <a:latin typeface="Arial Black"/>
              </a:rPr>
              <a:t>Browser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286000"/>
            <a:ext cx="6492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onsolas"/>
              </a:rPr>
              <a:t>web/index.html  ·  fetch POST /chat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65176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E8793A"/>
                </a:solidFill>
                <a:latin typeface="Arial Black"/>
              </a:rPr>
              <a:t>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880360"/>
            <a:ext cx="6949440" cy="86868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2880360"/>
            <a:ext cx="137160" cy="8686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297180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C7293"/>
                </a:solidFill>
                <a:latin typeface="Arial Black"/>
              </a:rPr>
              <a:t>Node 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337560"/>
            <a:ext cx="6492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onsolas"/>
              </a:rPr>
              <a:t>Express  ·  LLMClient  ·  MCPClient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7033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E8793A"/>
                </a:solidFill>
                <a:latin typeface="Arial Black"/>
              </a:rPr>
              <a:t>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931920"/>
            <a:ext cx="6949440" cy="86868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3931920"/>
            <a:ext cx="137160" cy="8686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4023359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65A82"/>
                </a:solidFill>
                <a:latin typeface="Arial Black"/>
              </a:rPr>
              <a:t>Python FastMCP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389120"/>
            <a:ext cx="6492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onsolas"/>
              </a:rPr>
              <a:t>@mcp.tool()  ·  stdio JSON-RPC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75488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E8793A"/>
                </a:solidFill>
                <a:latin typeface="Arial Black"/>
              </a:rPr>
              <a:t>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4983479"/>
            <a:ext cx="6949440" cy="86868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4983479"/>
            <a:ext cx="137160" cy="8686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440" y="5074919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Arial Black"/>
              </a:rPr>
              <a:t>data/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5440679"/>
            <a:ext cx="6492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onsolas"/>
              </a:rPr>
              <a:t>你的 JSON  ·  外部 API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19" y="2880360"/>
            <a:ext cx="3291840" cy="8686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41080" y="2971800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 Black"/>
              </a:rPr>
              <a:t>☁  LLM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3337560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E8EDF3"/>
                </a:solidFill>
                <a:latin typeface="Consolas"/>
              </a:rPr>
              <a:t>Claude · Gemma · GPT · ...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3108960"/>
            <a:ext cx="594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E8793A"/>
                </a:solidFill>
                <a:latin typeface="Arial Black"/>
              </a:rPr>
              <a:t>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3794759"/>
            <a:ext cx="3291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1">
                <a:solidFill>
                  <a:srgbClr val="E8793A"/>
                </a:solidFill>
                <a:latin typeface="Calibri"/>
              </a:rPr>
              <a:t>agent loop · 多輪迭代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2636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Calibri"/>
              </a:rPr>
              <a:t>關鍵：⇅ 雙向 — Node ⟷ LLM 之間迭代「問 → tool_use → 跑 → 答 → 再問」直到 end_turn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5156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Arial Black"/>
              </a:rPr>
              <a:t>agent loop 真實長這樣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1">
                <a:solidFill>
                  <a:srgbClr val="1C7293"/>
                </a:solidFill>
                <a:latin typeface="Calibri"/>
              </a:rPr>
              <a:t>backend-node/llm-client.js — 整個系統的 20 行核心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5508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5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2743200" cy="36576"/>
          </a:xfrm>
          <a:prstGeom prst="rect">
            <a:avLst/>
          </a:prstGeom>
          <a:solidFill>
            <a:srgbClr val="E87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783080"/>
            <a:ext cx="7040880" cy="4526280"/>
          </a:xfrm>
          <a:prstGeom prst="rect">
            <a:avLst/>
          </a:prstGeom>
          <a:solidFill>
            <a:srgbClr val="10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74519"/>
            <a:ext cx="6766560" cy="4389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DDE4EE"/>
                </a:solidFill>
                <a:latin typeface="Consolas"/>
              </a:rPr>
              <a:t>async chat(messages) {
  const history = [...messages];
  for (let i = 0; i &lt; maxIterations; i++) {           // ← 護欄
    const resp = await anthropic.messages.create({
      model, tools: mcp.getAnthropicTools(),          // ① 餵 tools
      messages: history,
    });
    history.push({ role: "assistant", content: resp.content });
    if (resp.stop_reason !== "tool_use") {            // ② 結束
      return { reply: extractText(resp), messages: history };
    }
    const toolUses = resp.content                     // ③ 跑工具
      .filter(b =&gt; b.type === "tool_use");
    const toolResults = await Promise.all(
      toolUses.map(t =&gt; mcp.callTool(t.name, t.input))
    );
    history.push({ role: "user", content: toolResults });
  }
}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09560" y="1783080"/>
            <a:ext cx="3749039" cy="1143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9560" y="1783080"/>
            <a:ext cx="457200" cy="1143000"/>
          </a:xfrm>
          <a:prstGeom prst="rect">
            <a:avLst/>
          </a:prstGeom>
          <a:solidFill>
            <a:srgbClr val="E87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0" y="2075688"/>
            <a:ext cx="4572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1856231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67128"/>
            <a:ext cx="310896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messages + tools 全部重餵 — 
API 是 stateless，每輪都要全 history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09560" y="3063239"/>
            <a:ext cx="3749039" cy="1143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09560" y="3063239"/>
            <a:ext cx="457200" cy="1143000"/>
          </a:xfrm>
          <a:prstGeom prst="rect">
            <a:avLst/>
          </a:prstGeom>
          <a:solidFill>
            <a:srgbClr val="E87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0" y="3355847"/>
            <a:ext cx="4572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136391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結束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447287"/>
            <a:ext cx="310896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stop_reason ≠ tool_use
→ 取 text，回給前端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09560" y="4343400"/>
            <a:ext cx="3749039" cy="1143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09560" y="4343400"/>
            <a:ext cx="457200" cy="1143000"/>
          </a:xfrm>
          <a:prstGeom prst="rect">
            <a:avLst/>
          </a:prstGeom>
          <a:solidFill>
            <a:srgbClr val="E87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0" y="4636008"/>
            <a:ext cx="4572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416552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工具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4727448"/>
            <a:ext cx="310896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tool_use → 平行 callTool
→ 結果 push 回 history
→ 繼續迴圈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3550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1">
                <a:solidFill>
                  <a:srgbClr val="E8793A"/>
                </a:solidFill>
                <a:latin typeface="Calibri"/>
              </a:rPr>
              <a:t>🛑 maxIterations=10 是護欄；超過 → 拋錯。整個 agent 沒有 magic — 就是個 for-loop + if-else。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5156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Arial Black"/>
              </a:rPr>
              <a:t>行前準備（請於上課前完成）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1">
                <a:solidFill>
                  <a:srgbClr val="1C7293"/>
                </a:solidFill>
                <a:latin typeface="Calibri"/>
              </a:rPr>
              <a:t>這幾步無關概念，但卡住會吃掉現場時間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5508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6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2743200" cy="36576"/>
          </a:xfrm>
          <a:prstGeom prst="rect">
            <a:avLst/>
          </a:prstGeom>
          <a:solidFill>
            <a:srgbClr val="E87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783080"/>
            <a:ext cx="10972800" cy="96012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502920" cy="9601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039112"/>
            <a:ext cx="5029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5623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git clone 教材並進到 mini-project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194560"/>
            <a:ext cx="10241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065A82"/>
                </a:solidFill>
                <a:latin typeface="Consolas"/>
              </a:rPr>
              <a:t>$ git clone https://github.com/UDICatNCHU/nchu-mcp-workshop-2026
$ cd nchu-mcp-workshop-2026/mini-project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862072"/>
            <a:ext cx="10972800" cy="96012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862072"/>
            <a:ext cx="502920" cy="9601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118104"/>
            <a:ext cx="5029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935224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取得 LLM 存取（二選一）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73552"/>
            <a:ext cx="10241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065A82"/>
                </a:solidFill>
                <a:latin typeface="Consolas"/>
              </a:rPr>
              <a:t>雲端：Anthropic Console 申請 API key（新帳號送 $5 試用）
本地：確認你會走 NCHU vLLM 路線（細節見下一頁）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941063"/>
            <a:ext cx="10972800" cy="96012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941063"/>
            <a:ext cx="502920" cy="9601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197096"/>
            <a:ext cx="5029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14215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建 .env 並填入金鑰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352544"/>
            <a:ext cx="10241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065A82"/>
                </a:solidFill>
                <a:latin typeface="Consolas"/>
              </a:rPr>
              <a:t>$ cp .env.example .env
$ vim .env   # 填 ANTHROPIC_API_KEY 或 OPENAI_BASE_URL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5020055"/>
            <a:ext cx="10972800" cy="96012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5020055"/>
            <a:ext cx="502920" cy="9601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276088"/>
            <a:ext cx="5029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 Black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093207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跑環境預檢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431536"/>
            <a:ext cx="10241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065A82"/>
                </a:solidFill>
                <a:latin typeface="Consolas"/>
              </a:rPr>
              <a:t>$ ./setup.sh
    → 看到 5/5 ✅ 代表現場可以直接 npm start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126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1">
                <a:solidFill>
                  <a:srgbClr val="E8793A"/>
                </a:solidFill>
                <a:latin typeface="Calibri"/>
              </a:rPr>
              <a:t>✅ 行前 4 步完成 → 現場只剩「npm start + 開瀏覽器」（下一頁）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5156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Arial Black"/>
              </a:rPr>
              <a:t>現場啟動（5 分鐘）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1">
                <a:solidFill>
                  <a:srgbClr val="1C7293"/>
                </a:solidFill>
                <a:latin typeface="Calibri"/>
              </a:rPr>
              <a:t>三條指令 + 對照「該長什麼樣」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5508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7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2743200" cy="36576"/>
          </a:xfrm>
          <a:prstGeom prst="rect">
            <a:avLst/>
          </a:prstGeom>
          <a:solidFill>
            <a:srgbClr val="E87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▶  你輸入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057400"/>
            <a:ext cx="10972800" cy="1417320"/>
          </a:xfrm>
          <a:prstGeom prst="rect">
            <a:avLst/>
          </a:prstGeom>
          <a:solidFill>
            <a:srgbClr val="10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105156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DDE4EE"/>
                </a:solidFill>
                <a:latin typeface="Consolas"/>
              </a:rPr>
              <a:t>$ ./setup.sh                            # 1. sanity check 已裝好的環境
$ cd backend-node &amp;&amp; npm start          # 2. 啟動 backend + spawn MCP
$ open http://localhost:3000            # 3. 瀏覽器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61188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▶  你應該看到（npm start 印出）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931920"/>
            <a:ext cx="10972800" cy="1874519"/>
          </a:xfrm>
          <a:prstGeom prst="rect">
            <a:avLst/>
          </a:prstGeom>
          <a:solidFill>
            <a:srgbClr val="10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23360"/>
            <a:ext cx="10515600" cy="1737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DDE4EE"/>
                </a:solidFill>
                <a:latin typeface="Consolas"/>
              </a:rPr>
              <a:t>&gt; mini-assistant@1.0.0 start
&gt; node server.js
✓ hello_tool → get_english_center_info
✓ teachers_tool → search_teachers, get_teacher_detail
✓ weather_tool → get_weather
→ Mini AI Assistant: http://localhost:3000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9436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1">
                <a:solidFill>
                  <a:srgbClr val="E8793A"/>
                </a:solidFill>
                <a:latin typeface="Calibri"/>
              </a:rPr>
              <a:t>🎉 三行 ✓ + URL → MCP server 都連上了；瀏覽器問「英文中心幾點開門？」會在 terminal 看 [tool_use]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636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alibri"/>
              </a:rPr>
              <a:t>⚠ 沒看到 ✓ 三行：→ Slide 13 卡點速查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5156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Arial Black"/>
              </a:rPr>
              <a:t>選你的 LLM 路線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1">
                <a:solidFill>
                  <a:srgbClr val="1C7293"/>
                </a:solidFill>
                <a:latin typeface="Calibri"/>
              </a:rPr>
              <a:t>`.env` 一行切換 — 因為 MCP 工具兩家都認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5508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8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2743200" cy="36576"/>
          </a:xfrm>
          <a:prstGeom prst="rect">
            <a:avLst/>
          </a:prstGeom>
          <a:solidFill>
            <a:srgbClr val="E87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783080"/>
            <a:ext cx="5486400" cy="178308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5486400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 Black"/>
              </a:rPr>
              <a:t>☁  雲端 · Anthropic Claude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331720"/>
            <a:ext cx="5120640" cy="1188720"/>
          </a:xfrm>
          <a:prstGeom prst="rect">
            <a:avLst/>
          </a:prstGeom>
          <a:solidFill>
            <a:srgbClr val="10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395728"/>
            <a:ext cx="49834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DDE4EE"/>
                </a:solidFill>
                <a:latin typeface="Consolas"/>
              </a:rPr>
              <a:t># .env
LLM_PROVIDER=anthropic
ANTHROPIC_API_KEY=sk-ant-...
ANTHROPIC_MODEL=claude-haiku-4-5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783080"/>
            <a:ext cx="5257800" cy="178308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783080"/>
            <a:ext cx="5257800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82880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 Black"/>
              </a:rPr>
              <a:t>🏠  本地 · NCHU vLLM (Gemma 4)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60" y="2331720"/>
            <a:ext cx="4983480" cy="1188720"/>
          </a:xfrm>
          <a:prstGeom prst="rect">
            <a:avLst/>
          </a:prstGeom>
          <a:solidFill>
            <a:srgbClr val="10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2395728"/>
            <a:ext cx="484632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DDE4EE"/>
                </a:solidFill>
                <a:latin typeface="Consolas"/>
              </a:rPr>
              <a:t># .env
LLM_PROVIDER=openai
OPENAI_BASE_URL=http://&lt;ws-host&gt;:8000/v1
OPENAI_API_KEY=dummy
OPENAI_MODEL=gemma-4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657600"/>
            <a:ext cx="10972800" cy="169164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657600"/>
            <a:ext cx="109728" cy="1691640"/>
          </a:xfrm>
          <a:prstGeom prst="rect">
            <a:avLst/>
          </a:prstGeom>
          <a:solidFill>
            <a:srgbClr val="E87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703320"/>
            <a:ext cx="10698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💎  N+M 的甜蜜：你的工具一支不變，adapter 差別只在 mcp-client.js 這幾行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069080"/>
            <a:ext cx="5029200" cy="1188720"/>
          </a:xfrm>
          <a:prstGeom prst="rect">
            <a:avLst/>
          </a:prstGeom>
          <a:solidFill>
            <a:srgbClr val="10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114800"/>
            <a:ext cx="489204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DDE4EE"/>
                </a:solidFill>
                <a:latin typeface="Consolas"/>
              </a:rPr>
              <a:t>// getAnthropicTools()
{
  name,
  description,
  input_schema,   // ← MCP's
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069080"/>
            <a:ext cx="5029200" cy="1188720"/>
          </a:xfrm>
          <a:prstGeom prst="rect">
            <a:avLst/>
          </a:prstGeom>
          <a:solidFill>
            <a:srgbClr val="10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114800"/>
            <a:ext cx="489204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DDE4EE"/>
                </a:solidFill>
                <a:latin typeface="Consolas"/>
              </a:rPr>
              <a:t>// getOpenAITools()
{ type: "function",
  function: {
    name, description,
    parameters,   // ← 同一個
} 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5440680"/>
            <a:ext cx="1097280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468112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nsolas"/>
              </a:rPr>
              <a:t>📊 2026-04-24 實測：Tool 正確率 Claude 100% · Gemma 4 100%　|　延遲 4.8s vs 3.5s　|　兩者 hallucination 都通過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0350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onsolas"/>
              </a:rPr>
              <a:t>→ 詳細 benchmark：mini-project/docs/benchmarks/2026-04-24-claude-vs-gemma4.md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5156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Arial Black"/>
              </a:rPr>
              <a:t>Lab 1 — 換 JSON 做你領域的助理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1">
                <a:solidFill>
                  <a:srgbClr val="1C7293"/>
                </a:solidFill>
                <a:latin typeface="Calibri"/>
              </a:rPr>
              <a:t>0 行 Python · 40 分鐘 · 現場必做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5508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9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2743200" cy="36576"/>
          </a:xfrm>
          <a:prstGeom prst="rect">
            <a:avLst/>
          </a:prstGeom>
          <a:solidFill>
            <a:srgbClr val="E87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03120"/>
            <a:ext cx="2651760" cy="347472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103120"/>
            <a:ext cx="2651760" cy="6858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76272"/>
            <a:ext cx="914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240279"/>
            <a:ext cx="1554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 Black"/>
              </a:rPr>
              <a:t>觀察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017520"/>
            <a:ext cx="219456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看 [tool_use] log
AI 摘要 JSON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4983479"/>
            <a:ext cx="137160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02920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5 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2103120"/>
            <a:ext cx="2651760" cy="347472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66160" y="2103120"/>
            <a:ext cx="265176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2176272"/>
            <a:ext cx="914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240279"/>
            <a:ext cx="1554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 Black"/>
              </a:rPr>
              <a:t>換資料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3017520"/>
            <a:ext cx="219456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編輯 data/*.json
放你的領域內容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94760" y="4983479"/>
            <a:ext cx="1371600" cy="4114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94760" y="502920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15 min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79" y="2103120"/>
            <a:ext cx="2651760" cy="347472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5079" y="2103120"/>
            <a:ext cx="2651760" cy="685800"/>
          </a:xfrm>
          <a:prstGeom prst="rect">
            <a:avLst/>
          </a:prstGeom>
          <a:solidFill>
            <a:srgbClr val="E87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399" y="2176272"/>
            <a:ext cx="914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19" y="2240279"/>
            <a:ext cx="1554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 Black"/>
              </a:rPr>
              <a:t>改說明書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79" y="3017520"/>
            <a:ext cx="219456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docstring 的使用情境
決定工具呼叫率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79" y="4983479"/>
            <a:ext cx="1371600" cy="411480"/>
          </a:xfrm>
          <a:prstGeom prst="rect">
            <a:avLst/>
          </a:prstGeom>
          <a:solidFill>
            <a:srgbClr val="E87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79" y="502920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10 min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3999" y="2103120"/>
            <a:ext cx="2651760" cy="347472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3999" y="2103120"/>
            <a:ext cx="2651760" cy="6858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19" y="2176272"/>
            <a:ext cx="914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 Black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39" y="2240279"/>
            <a:ext cx="1554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 Black"/>
              </a:rPr>
              <a:t>驗證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599" y="3017520"/>
            <a:ext cx="219456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重啟 npm start
問自己資料問題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72599" y="4983479"/>
            <a:ext cx="137160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72599" y="502920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5 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0350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1">
                <a:solidFill>
                  <a:srgbClr val="E8793A"/>
                </a:solidFill>
                <a:latin typeface="Calibri"/>
              </a:rPr>
              <a:t>產出：你的 AI 助理會回答「你自己放進去的資料」— 不是英文中心 demo 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5156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Arial Black"/>
              </a:rPr>
              <a:t>Step 1–2：觀察 → 換 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1">
                <a:solidFill>
                  <a:srgbClr val="1C7293"/>
                </a:solidFill>
                <a:latin typeface="Calibri"/>
              </a:rPr>
              <a:t>還沒動到 Python 一個字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5508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10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2743200" cy="36576"/>
          </a:xfrm>
          <a:prstGeom prst="rect">
            <a:avLst/>
          </a:prstGeom>
          <a:solidFill>
            <a:srgbClr val="E87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5486400" cy="420624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486400" cy="5029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92807"/>
            <a:ext cx="53035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 Black"/>
              </a:rPr>
              <a:t>Step 1　觀察（5 min）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14600"/>
            <a:ext cx="5212080" cy="3474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在瀏覽器問：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065A82"/>
                </a:solidFill>
                <a:latin typeface="Consolas"/>
              </a:rPr>
              <a:t>  「英文中心幾點開門？」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在 terminal 觀察：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E8793A"/>
                </a:solidFill>
                <a:latin typeface="Consolas"/>
              </a:rPr>
              <a:t>  [tool_use] get_english_center_info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💡 關鍵觀察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6B6B"/>
                </a:solidFill>
                <a:latin typeface="Calibri"/>
              </a:rPr>
              <a:t>Claude 不會 dump 整份 JSON。它挑出「開放時間」那一段。</a:t>
            </a:r>
          </a:p>
          <a:p>
            <a:pPr algn="l"/>
            <a:r>
              <a:rPr sz="1300" b="0" i="0">
                <a:solidFill>
                  <a:srgbClr val="6B6B6B"/>
                </a:solidFill>
                <a:latin typeface="Calibri"/>
              </a:rPr>
              <a:t>這是 LLM 對 tool result 做的「摘要」— agent 的靈魂。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828800"/>
            <a:ext cx="5257800" cy="420624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828800"/>
            <a:ext cx="5257800" cy="5029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892807"/>
            <a:ext cx="50292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 Black"/>
              </a:rPr>
              <a:t>Step 2　換 JSON（15 min）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514600"/>
            <a:ext cx="5074920" cy="3474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編輯：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C7293"/>
                </a:solidFill>
                <a:latin typeface="Consolas"/>
              </a:rPr>
              <a:t>  mcp-server-py/data/english_center.json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換成你自己的領域資料：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• 你的研究室介紹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• 你教的一門課（大綱/作業/評分）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• 你系所的 FAQ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• 你的研究成果清單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E8793A"/>
                </a:solidFill>
                <a:latin typeface="Calibri"/>
              </a:rPr>
              <a:t>⚠ JSON 語法錯會卡住：</a:t>
            </a:r>
          </a:p>
          <a:p>
            <a:pPr algn="l"/>
            <a:r>
              <a:rPr sz="1200" b="0" i="0">
                <a:solidFill>
                  <a:srgbClr val="6B6B6B"/>
                </a:solidFill>
                <a:latin typeface="Consolas"/>
              </a:rPr>
              <a:t>  python3 -m json.tool data/xxx.json  驗一下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5156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Arial Black"/>
              </a:rPr>
              <a:t>Step 3：改 docstring（10 min）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1">
                <a:solidFill>
                  <a:srgbClr val="1C7293"/>
                </a:solidFill>
                <a:latin typeface="Calibri"/>
              </a:rPr>
              <a:t>直接拿 repo 兩支真實工具對照 — 同樣語法、教 LLM 不同事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5508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11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2743200" cy="36576"/>
          </a:xfrm>
          <a:prstGeom prst="rect">
            <a:avLst/>
          </a:prstGeom>
          <a:solidFill>
            <a:srgbClr val="E87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783080"/>
            <a:ext cx="5486400" cy="41148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5486400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 Black"/>
              </a:rPr>
              <a:t>📝  minimal — hello_tool.py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5303520" cy="3520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onsolas"/>
              </a:rPr>
              <a:t>@mcp.tool()
def get_english_center_info() -&gt; str:
    """取得中興大學英語自學暨
    檢定中心的完整資訊。
    回傳 JSON 字串，包含：
    名稱、開放時間、地點、設備…
    使用情境：使用者詢問英語
    自學中心相關問題時呼叫。
    """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783080"/>
            <a:ext cx="5257800" cy="41148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783080"/>
            <a:ext cx="5257800" cy="457200"/>
          </a:xfrm>
          <a:prstGeom prst="rect">
            <a:avLst/>
          </a:prstGeom>
          <a:solidFill>
            <a:srgbClr val="E87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82880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 Black"/>
              </a:rPr>
              <a:t>📖  rich — teachers_tool.py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331720"/>
            <a:ext cx="5074920" cy="3520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onsolas"/>
              </a:rPr>
              <a:t>@mcp.tool()
def get_teacher_detail(name: str) -&gt; str:
    """取得指定教授的完整資訊
    （email、辦公室、研究領域）。
    使用情境：使用者問某位教授
    的聯絡方式或完整資料時呼叫。
    通常在 search_teachers 找到
    候選名單後再呼叫。 ←跨工具線索
    Args:
        name: 教授姓名（完整中文）。
    """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5989320"/>
            <a:ext cx="1097280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603504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影響 LLM 行為的 3 個元素： ① 使用情境 → 該不該叫    ② Args 描述 → 怎麼填參數    ③ 跨工具線索 → 多輪呼叫順序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5156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Arial Black"/>
              </a:rPr>
              <a:t>Step 4：重啟 + 驗證（5 min）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1">
                <a:solidFill>
                  <a:srgbClr val="1C7293"/>
                </a:solidFill>
                <a:latin typeface="Calibri"/>
              </a:rPr>
              <a:t>三件事證明你的工具「真的在 work」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5508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12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2743200" cy="36576"/>
          </a:xfrm>
          <a:prstGeom prst="rect">
            <a:avLst/>
          </a:prstGeom>
          <a:solidFill>
            <a:srgbClr val="E87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10972800" cy="1188720"/>
          </a:xfrm>
          <a:prstGeom prst="rect">
            <a:avLst/>
          </a:prstGeom>
          <a:solidFill>
            <a:srgbClr val="10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1051560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DDE4EE"/>
                </a:solidFill>
                <a:latin typeface="Consolas"/>
              </a:rPr>
              <a:t>$ Ctrl+C                            # 停掉前一次 server
$ cd backend-node &amp;&amp; npm start
  → ✓ hello_tool → get_lab_info    # 新名字出現代表工具註冊成功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337560"/>
            <a:ext cx="10972800" cy="6858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337560"/>
            <a:ext cx="109728" cy="6858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447288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065A82"/>
                </a:solidFill>
                <a:latin typeface="Arial Black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392424"/>
            <a:ext cx="3840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問「不相關」的問題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03320"/>
            <a:ext cx="3840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Consolas"/>
              </a:rPr>
              <a:t>「今天天氣？」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3502152"/>
            <a:ext cx="6309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AI 應該不呼叫你的工具，直接聊天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160520"/>
            <a:ext cx="10972800" cy="6858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4160520"/>
            <a:ext cx="109728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70248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1C7293"/>
                </a:solidFill>
                <a:latin typeface="Arial Black"/>
              </a:rPr>
              <a:t>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15383"/>
            <a:ext cx="3840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問「相關」的問題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526280"/>
            <a:ext cx="3840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Consolas"/>
              </a:rPr>
              <a:t>「研究室招生條件？」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4325112"/>
            <a:ext cx="6309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AI 會引用 JSON 裡的實際內容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983480"/>
            <a:ext cx="10972800" cy="6858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983480"/>
            <a:ext cx="109728" cy="685800"/>
          </a:xfrm>
          <a:prstGeom prst="rect">
            <a:avLst/>
          </a:prstGeom>
          <a:solidFill>
            <a:srgbClr val="E87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093208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E8793A"/>
                </a:solidFill>
                <a:latin typeface="Arial Black"/>
              </a:rPr>
              <a:t>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038344"/>
            <a:ext cx="3840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問「資料沒有」的內容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349240"/>
            <a:ext cx="3840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Consolas"/>
              </a:rPr>
              <a:t>「有實習機會嗎？」（JSON 沒這欄）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5148072"/>
            <a:ext cx="6309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AI 應該明說不知道，不會幻想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0807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Calibri"/>
              </a:rPr>
              <a:t>第 ③ 項過關最關鍵 — 代表 agent 在 tool-grounded，不是在胡謅。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5156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Arial Black"/>
              </a:rPr>
              <a:t>常見卡點速查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1">
                <a:solidFill>
                  <a:srgbClr val="1C7293"/>
                </a:solidFill>
                <a:latin typeface="Calibri"/>
              </a:rPr>
              <a:t>卡住 30 秒就看這頁；更多在 Lab 手冊結尾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5508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13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2743200" cy="36576"/>
          </a:xfrm>
          <a:prstGeom prst="rect">
            <a:avLst/>
          </a:prstGeom>
          <a:solidFill>
            <a:srgbClr val="E87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91640"/>
            <a:ext cx="10972800" cy="4114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3566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症狀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737360"/>
            <a:ext cx="33832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原因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737360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解法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121408"/>
            <a:ext cx="10972800" cy="5669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212848"/>
            <a:ext cx="3566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setup.sh 卡 Node 版本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212848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本機 Node &lt; 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212848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65A82"/>
                </a:solidFill>
                <a:latin typeface="Consolas"/>
              </a:rPr>
              <a:t>nvm install 22 &amp;&amp; nvm use 22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724912"/>
            <a:ext cx="10972800" cy="5669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816352"/>
            <a:ext cx="3566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port 3000 已被占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816352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其他服務先佔了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816352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65A82"/>
                </a:solidFill>
                <a:latin typeface="Consolas"/>
              </a:rPr>
              <a:t>PORT=3001 npm start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328416"/>
            <a:ext cx="10972800" cy="5669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419856"/>
            <a:ext cx="3566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瀏覽器問後沒反應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419856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.env 的 API key 還是 placeholder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419856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65A82"/>
                </a:solidFill>
                <a:latin typeface="Consolas"/>
              </a:rPr>
              <a:t>檢查 sk-ant-... 有沒有填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931920"/>
            <a:ext cx="10972800" cy="5669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023359"/>
            <a:ext cx="3566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JSON 讀取錯誤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023359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手改 JSON 有語法錯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4023359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65A82"/>
                </a:solidFill>
                <a:latin typeface="Consolas"/>
              </a:rPr>
              <a:t>python3 -m json.tool data/xxx.json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4535424"/>
            <a:ext cx="10972800" cy="5669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626864"/>
            <a:ext cx="3566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問相關問題但 LLM 不叫工具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626864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docstring 寫太短 / 太含糊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4626864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65A82"/>
                </a:solidFill>
                <a:latin typeface="Consolas"/>
              </a:rPr>
              <a:t>補「使用情境：當使用者問 X 時」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5138928"/>
            <a:ext cx="10972800" cy="5669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230368"/>
            <a:ext cx="3566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npm start 看不到工具列表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5230368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config.json 的 server key
與 FastMCP("...") 名稱對不上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5230368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65A82"/>
                </a:solidFill>
                <a:latin typeface="Consolas"/>
              </a:rPr>
              <a:t>兩邊改成同一個字串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5742432"/>
            <a:ext cx="10972800" cy="5669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833872"/>
            <a:ext cx="3566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Could not find tool / 啟動失敗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5833872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mcp-server-py 沒裝依賴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5833872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65A82"/>
                </a:solidFill>
                <a:latin typeface="Consolas"/>
              </a:rPr>
              <a:t>cd mcp-server-py &amp;&amp; uv sync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63550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1">
                <a:solidFill>
                  <a:srgbClr val="E8793A"/>
                </a:solidFill>
                <a:latin typeface="Calibri"/>
              </a:rPr>
              <a:t>卡住超過 3 分鐘：舉手。講師 + 鄰座老師會過來幫你。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5156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Arial Black"/>
              </a:rPr>
              <a:t>交叉展示 — Show &amp; Tell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1">
                <a:solidFill>
                  <a:srgbClr val="1C7293"/>
                </a:solidFill>
                <a:latin typeface="Calibri"/>
              </a:rPr>
              <a:t>35–45 min · 看 3 位老師把同一支 mini-project 變成自己的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5508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14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2743200" cy="36576"/>
          </a:xfrm>
          <a:prstGeom prst="rect">
            <a:avLst/>
          </a:prstGeom>
          <a:solidFill>
            <a:srgbClr val="E87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5486400" cy="420624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486400" cy="502920"/>
          </a:xfrm>
          <a:prstGeom prst="rect">
            <a:avLst/>
          </a:prstGeom>
          <a:solidFill>
            <a:srgbClr val="E87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92807"/>
            <a:ext cx="53035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 Black"/>
              </a:rPr>
              <a:t>🎤  請 3 位老師上來（每人 3 分鐘）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60320"/>
            <a:ext cx="5212080" cy="3383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① 一句話介紹你的領域 + 你放了什麼 JSON</a:t>
            </a:r>
          </a:p>
          <a:p>
            <a:pPr algn="l">
              <a:spcAft>
                <a:spcPts val="1200"/>
              </a:spcAft>
            </a:pPr>
            <a:r>
              <a:rPr sz="1200" b="0" i="1">
                <a:solidFill>
                  <a:srgbClr val="6B6B6B"/>
                </a:solidFill>
                <a:latin typeface="Calibri"/>
              </a:rPr>
              <a:t>   例：「我教植物分類學，JSON 是 50 種校園樹木」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② 問你的 agent 一個你自己關心的問題</a:t>
            </a:r>
          </a:p>
          <a:p>
            <a:pPr algn="l">
              <a:spcAft>
                <a:spcPts val="1200"/>
              </a:spcAft>
            </a:pPr>
            <a:r>
              <a:rPr sz="1200" b="0" i="1">
                <a:solidFill>
                  <a:srgbClr val="6B6B6B"/>
                </a:solidFill>
                <a:latin typeface="Calibri"/>
              </a:rPr>
              <a:t>   例：「校門口那棵開白花的是什麼？」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③ 講一個你踩到的雷（30 秒）</a:t>
            </a:r>
          </a:p>
          <a:p>
            <a:pPr algn="l"/>
            <a:r>
              <a:rPr sz="1200" b="0" i="1">
                <a:solidFill>
                  <a:srgbClr val="6B6B6B"/>
                </a:solidFill>
                <a:latin typeface="Calibri"/>
              </a:rPr>
              <a:t>   docstring 寫太短？JSON 結構太深？編碼錯？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828800"/>
            <a:ext cx="5257800" cy="420624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828800"/>
            <a:ext cx="5257800" cy="5029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892807"/>
            <a:ext cx="50292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 Black"/>
              </a:rPr>
              <a:t>💡  為什麼花 10 分鐘做這件事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560320"/>
            <a:ext cx="5074920" cy="3383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看見落地的多樣性</a:t>
            </a:r>
          </a:p>
          <a:p>
            <a:pPr algn="l">
              <a:spcAft>
                <a:spcPts val="1200"/>
              </a:spcAft>
            </a:pPr>
            <a:r>
              <a:rPr sz="1200" b="0" i="0">
                <a:solidFill>
                  <a:srgbClr val="6B6B6B"/>
                </a:solidFill>
                <a:latin typeface="Calibri"/>
              </a:rPr>
              <a:t>醫學人文 / 物理 / 語言學 / 行政 FAQ —
同一支 code 在不同領域的形狀。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偷學別人 docstring 寫法</a:t>
            </a:r>
          </a:p>
          <a:p>
            <a:pPr algn="l">
              <a:spcAft>
                <a:spcPts val="1200"/>
              </a:spcAft>
            </a:pPr>
            <a:r>
              <a:rPr sz="1200" b="0" i="0">
                <a:solidFill>
                  <a:srgbClr val="6B6B6B"/>
                </a:solidFill>
                <a:latin typeface="Calibri"/>
              </a:rPr>
              <a:t>10 個老師有 10 種「使用情境」描述法 —
看誰的 AI 最聽話。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提早為 L2 / L3 預警</a:t>
            </a:r>
          </a:p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別人卡的雷，可能就是你下午自修會踩到的。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2636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1">
                <a:solidFill>
                  <a:srgbClr val="E8793A"/>
                </a:solidFill>
                <a:latin typeface="Calibri"/>
              </a:rPr>
              <a:t>※ 沒上台的老師不是觀眾 — 把對你「最有啟發」的那個 demo 記下來，課後試試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0" i="0">
                <a:solidFill>
                  <a:srgbClr val="E8EDF3"/>
                </a:solidFill>
                <a:latin typeface="Calibri"/>
              </a:rPr>
              <a:t>恭喜 — 你剛做出了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109728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Arial Black"/>
              </a:rPr>
              <a:t>屬於你自己領域的 AI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834640"/>
            <a:ext cx="2286000" cy="45720"/>
          </a:xfrm>
          <a:prstGeom prst="rect">
            <a:avLst/>
          </a:prstGeom>
          <a:solidFill>
            <a:srgbClr val="E87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1546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E8793A"/>
                </a:solidFill>
                <a:latin typeface="Arial Black"/>
              </a:rPr>
              <a:t>回家路徑（課後自修）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566160"/>
            <a:ext cx="5486400" cy="228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🧪  L2 — 加一支有參數的搜尋工具</a:t>
            </a:r>
          </a:p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E8EDF3"/>
                </a:solidFill>
                <a:latin typeface="Consolas"/>
              </a:rPr>
              <a:t>     docs/labs/L2-add-a-search-tool.md  (40 分)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🧪  L3 — 呼叫外部 API（async + XML）</a:t>
            </a:r>
          </a:p>
          <a:p>
            <a:pPr algn="l"/>
            <a:r>
              <a:rPr sz="1200" b="0" i="0">
                <a:solidFill>
                  <a:srgbClr val="E8EDF3"/>
                </a:solidFill>
                <a:latin typeface="Consolas"/>
              </a:rPr>
              <a:t>     docs/labs/L3-call-external-api.md  (60 分)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15468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E8793A"/>
                </a:solidFill>
                <a:latin typeface="Arial Black"/>
              </a:rPr>
              <a:t>下一段 Segment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566160"/>
            <a:ext cx="5303520" cy="228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實務考量（10 min 收尾）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E8EDF3"/>
                </a:solidFill>
                <a:latin typeface="Calibri"/>
              </a:rPr>
              <a:t>從「你剛做的 3 個工具」往外擴：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E8EDF3"/>
                </a:solidFill>
                <a:latin typeface="Calibri"/>
              </a:rPr>
              <a:t>• 239 工具怎麼辦？（Scale）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E8EDF3"/>
                </a:solidFill>
                <a:latin typeface="Calibri"/>
              </a:rPr>
              <a:t>• 工具描述怎麼寫？（Quality）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E8EDF3"/>
                </a:solidFill>
                <a:latin typeface="Calibri"/>
              </a:rPr>
              <a:t>• 該用哪個模型？（Model）</a:t>
            </a:r>
          </a:p>
          <a:p>
            <a:pPr algn="l"/>
            <a:r>
              <a:rPr sz="1300" b="0" i="0">
                <a:solidFill>
                  <a:srgbClr val="E8EDF3"/>
                </a:solidFill>
                <a:latin typeface="Calibri"/>
              </a:rPr>
              <a:t>• 帳單會有多貴？（Cost）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126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1C7293"/>
                </a:solidFill>
                <a:latin typeface="Consolas"/>
              </a:rPr>
              <a:t>github.com/UDICatNCHU/nchu-mcp-workshop-2026   ·   Issues 歡迎！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