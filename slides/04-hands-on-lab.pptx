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第四講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6000" b="1" i="0">
                <a:solidFill>
                  <a:srgbClr val="1F2937"/>
                </a:solidFill>
                <a:latin typeface="Arial Black"/>
              </a:rPr>
              <a:t>動手做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34589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7B5CF5"/>
                </a:solidFill>
                <a:latin typeface="Calibri"/>
              </a:rPr>
              <a:t>一個能力的誕生 —— 把 AI 能力從「無」變到「有」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2983229"/>
            <a:ext cx="5486400" cy="78866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3051810"/>
            <a:ext cx="51435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5B3ED9"/>
                </a:solidFill>
                <a:latin typeface="Arial Black"/>
              </a:rPr>
              <a:t>投影片講概念  ·  Colab 現場做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3429000"/>
            <a:ext cx="51435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1F2937"/>
                </a:solidFill>
                <a:latin typeface="Calibri"/>
              </a:rPr>
              <a:t>兩邊交錯進行 —— 看到 teal 提示列就切到 Colab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國立中興大學  ·  AI 學伴系統實務案例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T H E   J O U R N E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今天的旅程：六步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先架好環境(第 0 步),然後一步一步看「能力」長出來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1316736" cy="18516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2057400"/>
            <a:ext cx="1316736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7B5CF5"/>
                </a:solidFill>
                <a:latin typeface="Arial Blac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770" y="2640330"/>
            <a:ext cx="1179576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Calibri"/>
              </a:rPr>
              <a:t>給工具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770" y="3188970"/>
            <a:ext cx="1179576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862" b="0" i="0">
                <a:solidFill>
                  <a:srgbClr val="9CA3AF"/>
                </a:solidFill>
                <a:latin typeface="Calibri"/>
              </a:rPr>
              <a:t>它就連上世界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76222" y="1851660"/>
            <a:ext cx="1316736" cy="18516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76222" y="2057400"/>
            <a:ext cx="1316736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FB7048"/>
                </a:solidFill>
                <a:latin typeface="Arial Blac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4802" y="2640330"/>
            <a:ext cx="1179576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Calibri"/>
              </a:rPr>
              <a:t>換你的資料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4802" y="3188970"/>
            <a:ext cx="1179576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862" b="0" i="0">
                <a:solidFill>
                  <a:srgbClr val="9CA3AF"/>
                </a:solidFill>
                <a:latin typeface="Calibri"/>
              </a:rPr>
              <a:t>L1 · 零邏輯改動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75254" y="1851660"/>
            <a:ext cx="1316736" cy="18516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75254" y="2057400"/>
            <a:ext cx="1316736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0EA594"/>
                </a:solidFill>
                <a:latin typeface="Arial Blac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3833" y="2640330"/>
            <a:ext cx="1179576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Calibri"/>
              </a:rPr>
              <a:t>選工具填參數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3833" y="3188970"/>
            <a:ext cx="1179576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862" b="0" i="0">
                <a:solidFill>
                  <a:srgbClr val="9CA3AF"/>
                </a:solidFill>
                <a:latin typeface="Calibri"/>
              </a:rPr>
              <a:t>L2 · LLM 自己抓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4286" y="1851660"/>
            <a:ext cx="1316736" cy="18516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4286" y="2057400"/>
            <a:ext cx="1316736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EF4444"/>
                </a:solidFill>
                <a:latin typeface="Arial Black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2866" y="2640330"/>
            <a:ext cx="1179576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Calibri"/>
              </a:rPr>
              <a:t>接外部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2866" y="3188970"/>
            <a:ext cx="1179576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862" b="0" i="0">
                <a:solidFill>
                  <a:srgbClr val="9CA3AF"/>
                </a:solidFill>
                <a:latin typeface="Calibri"/>
              </a:rPr>
              <a:t>L3 · 圖書館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3318" y="1851660"/>
            <a:ext cx="1316736" cy="18516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73318" y="2057400"/>
            <a:ext cx="1316736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7B5CF5"/>
                </a:solidFill>
                <a:latin typeface="Arial Black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1898" y="2640330"/>
            <a:ext cx="1179576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Calibri"/>
              </a:rPr>
              <a:t>撐大資料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1898" y="3188970"/>
            <a:ext cx="1179576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862" b="0" i="0">
                <a:solidFill>
                  <a:srgbClr val="9CA3AF"/>
                </a:solidFill>
                <a:latin typeface="Calibri"/>
              </a:rPr>
              <a:t>L4 · 3018 門課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72350" y="1851660"/>
            <a:ext cx="1316736" cy="18516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72350" y="2057400"/>
            <a:ext cx="1316736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FB7048"/>
                </a:solidFill>
                <a:latin typeface="Arial Black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0929" y="2640330"/>
            <a:ext cx="1179576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Calibri"/>
              </a:rPr>
              <a:t>親手造工具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0929" y="3188970"/>
            <a:ext cx="1179576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862" b="0" i="0">
                <a:solidFill>
                  <a:srgbClr val="9CA3AF"/>
                </a:solidFill>
                <a:latin typeface="Calibri"/>
              </a:rPr>
              <a:t>L5 · 高潮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每一步都「看得見背後的 loop」—— Segment 2／3 講的 tool_use ↔ tool_result,在你畫面上跑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· ①   H O W   T O   U S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投影片講概念，Colab 現場做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看到 teal 提示列就切到 Colab；做完再切回來講下一步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7B5CF5"/>
                </a:solidFill>
                <a:latin typeface="Arial Black"/>
              </a:rPr>
              <a:t>投影片（這裡）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• 講「為什麼」與概念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• 一步一張,看完就切過去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• 每張底下 teal 列 = 該切 Colab 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631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0EA594"/>
                </a:solidFill>
                <a:latin typeface="Arial Black"/>
              </a:rPr>
              <a:t>Colab（現場做）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• 零安裝,瀏覽器就跑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• 左側 目錄當投影片導覽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• 程式碼收在標題列,點 ▶ 就執行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771900"/>
            <a:ext cx="8229600" cy="72009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3771900"/>
            <a:ext cx="7818120" cy="7200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alibri"/>
              </a:rPr>
              <a:t>▶  70 分鐘配置： 0–10 環境＋第1步 demo ｜ 10–25 第2步 L1(學員必做) ｜ 25–45 第3–4步 L2/L3 ｜ 45–60 交叉展示＋第5–6步 ｜ 60–70 Q&amp;A＋鋪陳 Segment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0 步   S E T U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先把工作台架起來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跟故事無關的「準備材料」—— 跑一次就好,約 3 分鐘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83080"/>
            <a:ext cx="8229600" cy="16459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933956"/>
            <a:ext cx="7852409" cy="13578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1200" b="0" i="0">
                <a:solidFill>
                  <a:srgbClr val="9CA3AF"/>
                </a:solidFill>
                <a:latin typeface="Consolas"/>
              </a:rPr>
              <a:t># 三格,從上到下按 ▶</a:t>
            </a:r>
          </a:p>
          <a:p>
            <a:pPr algn="l">
              <a:spcAft>
                <a:spcPts val="75"/>
              </a:spcAft>
            </a:pPr>
            <a:r>
              <a:rPr sz="1200" b="0" i="0">
                <a:solidFill>
                  <a:srgbClr val="E5E7EB"/>
                </a:solidFill>
                <a:latin typeface="Consolas"/>
              </a:rPr>
              <a:t>① 下載教材 + 裝 Node 20 / uv</a:t>
            </a:r>
          </a:p>
          <a:p>
            <a:pPr algn="l">
              <a:spcAft>
                <a:spcPts val="75"/>
              </a:spcAft>
            </a:pPr>
            <a:r>
              <a:rPr sz="1200" b="0" i="0">
                <a:solidFill>
                  <a:srgbClr val="E5E7EB"/>
                </a:solidFill>
                <a:latin typeface="Consolas"/>
              </a:rPr>
              <a:t>② 安裝相依套件 (npm + uv sync)</a:t>
            </a:r>
          </a:p>
          <a:p>
            <a:pPr algn="l">
              <a:spcAft>
                <a:spcPts val="75"/>
              </a:spcAft>
            </a:pPr>
            <a:r>
              <a:rPr sz="1200" b="0" i="0">
                <a:solidFill>
                  <a:srgbClr val="E5E7EB"/>
                </a:solidFill>
                <a:latin typeface="Consolas"/>
              </a:rPr>
              <a:t>③ 設定 Claude API key</a:t>
            </a:r>
          </a:p>
          <a:p>
            <a:pPr algn="l">
              <a:spcAft>
                <a:spcPts val="75"/>
              </a:spcAft>
            </a:pPr>
            <a:r>
              <a:rPr sz="1200" b="0" i="0">
                <a:solidFill>
                  <a:srgbClr val="9CA3AF"/>
                </a:solidFill>
                <a:latin typeface="Consolas"/>
              </a:rPr>
              <a:t>   — Colab 左側 Secrets 設一次,或當場貼上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0 步：跑環境三格(學員同步開 Colab)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1 步   T O O L   =   B R I D G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給 LLM 一支工具，它就連上世界了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工具就是那座橋 —— 而且你看得見它在背後呼叫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645919"/>
            <a:ext cx="3771900" cy="106299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76936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EF4444"/>
                </a:solidFill>
                <a:latin typeface="Arial Black"/>
              </a:rPr>
              <a:t>沒有工具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112264"/>
            <a:ext cx="342900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12" b="0" i="0">
                <a:solidFill>
                  <a:srgbClr val="374151"/>
                </a:solidFill>
                <a:latin typeface="Calibri"/>
              </a:rPr>
              <a:t>✗ 不知道今天幾號、查不到館藏</a:t>
            </a:r>
          </a:p>
          <a:p>
            <a:pPr algn="l"/>
            <a:r>
              <a:rPr sz="1012" b="0" i="0">
                <a:solidFill>
                  <a:srgbClr val="374151"/>
                </a:solidFill>
                <a:latin typeface="Calibri"/>
              </a:rPr>
              <a:t>→ 只能用舊知識,或亂猜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6310" y="1645919"/>
            <a:ext cx="3771900" cy="106299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76936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0EA594"/>
                </a:solidFill>
                <a:latin typeface="Arial Black"/>
              </a:rPr>
              <a:t>掛上工具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112264"/>
            <a:ext cx="342900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12" b="0" i="0">
                <a:solidFill>
                  <a:srgbClr val="374151"/>
                </a:solidFill>
                <a:latin typeface="Calibri"/>
              </a:rPr>
              <a:t>✓ 自己呼叫工具、拿真實資料再答</a:t>
            </a:r>
          </a:p>
          <a:p>
            <a:pPr algn="l"/>
            <a:r>
              <a:rPr sz="1012" b="0" i="0">
                <a:solidFill>
                  <a:srgbClr val="374151"/>
                </a:solidFill>
                <a:latin typeface="Calibri"/>
              </a:rPr>
              <a:t>→ 這就是 agentic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930" y="2846070"/>
            <a:ext cx="82296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9CA3AF"/>
                </a:solidFill>
                <a:latin typeface="Calibri"/>
              </a:rPr>
              <a:t>在 Colab「看得見的 loop」那格,你會親眼看到這串：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2930" y="3120389"/>
            <a:ext cx="8229600" cy="10287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386" y="3271265"/>
            <a:ext cx="7852409" cy="7406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# 你問:「資工系深度學習的課,老師有什麼論文?」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[tool_use] search_courses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[tool_use] search_arxiv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(stop_reason: end_turn  →  LLM 整合成一段回覆)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1 步：跑「啟動 server」→ 問一題 →「看得見的 loop」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2 步 · L1   M A K E   I T   Y O U R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把它換成「你的」世界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不寫一行新邏輯,只動兩樣：換資料 + 改說明書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680210"/>
            <a:ext cx="288036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03654"/>
            <a:ext cx="25374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425" b="1" i="0">
                <a:solidFill>
                  <a:srgbClr val="FB7048"/>
                </a:solidFill>
                <a:latin typeface="Arial Black"/>
              </a:rPr>
              <a:t>① 換資料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194560"/>
            <a:ext cx="2537460" cy="17830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75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把 data/ 裡的 JSON</a:t>
            </a:r>
          </a:p>
          <a:p>
            <a:pPr algn="l">
              <a:spcAft>
                <a:spcPts val="375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換成你的領域：</a:t>
            </a:r>
          </a:p>
          <a:p>
            <a:pPr algn="l">
              <a:spcAft>
                <a:spcPts val="375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實驗室 / 課程 /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研究成果 …</a:t>
            </a:r>
          </a:p>
          <a:p>
            <a:pPr algn="l"/>
            <a:r>
              <a:rPr sz="975" b="0" i="0">
                <a:solidFill>
                  <a:srgbClr val="9CA3AF"/>
                </a:solidFill>
                <a:latin typeface="Calibri"/>
              </a:rPr>
              <a:t>（0 行 Python）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69029" y="1680210"/>
            <a:ext cx="4869179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5B3ED9"/>
                </a:solidFill>
                <a:latin typeface="Calibri"/>
              </a:rPr>
              <a:t>② 改說明書 docstring —— LLM 靠這段決定何時呼叫這支工具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69029" y="2023110"/>
            <a:ext cx="4869179" cy="20574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8485" y="2173986"/>
            <a:ext cx="4491990" cy="17693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A8E1B4"/>
                </a:solidFill>
                <a:latin typeface="Consolas"/>
              </a:rPr>
              <a:t>"""取得 XXX 研究室完整資訊。</a:t>
            </a:r>
          </a:p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A8E1B4"/>
                </a:solidFill>
                <a:latin typeface="Consolas"/>
              </a:rPr>
              <a:t>使用情境:使用者詢問研究方向、</a:t>
            </a:r>
          </a:p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A8E1B4"/>
                </a:solidFill>
                <a:latin typeface="Consolas"/>
              </a:rPr>
              <a:t>PI 聯絡方式、招生名額時呼叫。</a:t>
            </a:r>
          </a:p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A8E1B4"/>
                </a:solidFill>
                <a:latin typeface="Consolas"/>
              </a:rPr>
              <a:t>回傳 JSON 字串。"""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2 步：L1「換資料」→「改 docstring」→「重啟」（學員必做）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3 步 · L2   L L M   P I C K S   A R G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讓它自己選工具、填參數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真實工具常常要帶參數 —— 看 LLM 自己從句子抓出來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9CA3AF"/>
                </a:solidFill>
                <a:latin typeface="Arial Black"/>
              </a:rPr>
              <a:t>直接呼叫（你來）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search_teachers("電腦視覺", 3)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↑ 你自己決定關鍵字、自己呼叫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只是讓你看清工具本體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631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0EA594"/>
                </a:solidFill>
                <a:latin typeface="Arial Black"/>
              </a:rPr>
              <a:t>透過 agent（LLM 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你問：「有誰在做電腦視覺？」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↑ LLM 自己萃取 keyword=電腦視覺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自己決定呼叫哪支、要不要再追問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7376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37376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F766E"/>
                </a:solidFill>
                <a:latin typeface="Calibri"/>
              </a:rPr>
              <a:t>▶  agent 的價值不是「能呼叫工具」,而是 LLM 自己判斷該用哪支、填什麼、下一步要不要再查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3 步：L2 在聊天問「有做 CV 的老師？email？」,看它連兩次 tool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4 步 · L3   R E A C H   T H E   W O R L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接上真實的外部世界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前面讀本機資料,真實工具常常要打外部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8229600" cy="11658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37944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EF4444"/>
                </a:solidFill>
                <a:latin typeface="Arial Black"/>
              </a:rPr>
              <a:t>例：圖書館館藏查詢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366010"/>
            <a:ext cx="781812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library_tool 即時打中央大學圖書館的 Primo 公開端點（免 API key）,查到真實館藏再回給你 —— 不是假資料。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930" y="3120389"/>
            <a:ext cx="8229600" cy="6858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669" y="3120389"/>
            <a:ext cx="781812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EF4444"/>
                </a:solidFill>
                <a:latin typeface="Calibri"/>
              </a:rPr>
              <a:t>▶  工具背後可以是「任何外部系統」：圖書館、天氣、你系上的選課 API、實驗數據庫 …… 對 LLM 來說都長一樣 —— 一個它能呼叫、會回 JSON 的工具。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4 步：L3 問「圖書館有沒有《原子習慣》」+ 直接呼叫看它打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5 步 · L4   S C A L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撐住幾千筆大資料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course_tool 查中興 114-2 全部 3018 門真實課程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EF4444"/>
                </a:solidFill>
                <a:latin typeface="Arial Black"/>
              </a:rPr>
              <a:t>為什麼不全塞給 LLM？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3018 筆全丟進去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→ context 直接爆掉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→ 又慢又貴又不準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631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0EA594"/>
                </a:solidFill>
                <a:latin typeface="Arial Black"/>
              </a:rPr>
              <a:t>工具端先篩再回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工具在 3018 筆裡搜尋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只回前幾筆相關的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LLM 只看這份篩過的小清單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7376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37376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「工具負責檢索、LLM 負責理解」—— 這就是 Segment 5 要談的 scale 議題的縮影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5 步：L4 問「有沒有教深度學習的課？」「資工系有哪些選修？」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6 步 · L5   B U I L D   Y O U R   O W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你親手造一支工具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給 LLM 一個它本來辦不到的能力 —— 旅程的高潮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680210"/>
            <a:ext cx="288036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03654"/>
            <a:ext cx="25374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EF4444"/>
                </a:solidFill>
                <a:latin typeface="Arial Black"/>
              </a:rPr>
              <a:t>① 先問,它辦不到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194560"/>
            <a:ext cx="2537460" cy="17830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問：「今天星期幾？」</a:t>
            </a:r>
          </a:p>
          <a:p>
            <a:pPr algn="l">
              <a:spcAft>
                <a:spcPts val="375"/>
              </a:spcAft>
            </a:pPr>
            <a:r>
              <a:rPr sz="1012" b="0" i="0">
                <a:solidFill>
                  <a:srgbClr val="374151"/>
                </a:solidFill>
                <a:latin typeface="Calibri"/>
              </a:rPr>
              <a:t>✗ LLM 沒有「現在」概念</a:t>
            </a:r>
          </a:p>
          <a:p>
            <a:pPr algn="l"/>
            <a:r>
              <a:rPr sz="1012" b="0" i="0">
                <a:solidFill>
                  <a:srgbClr val="374151"/>
                </a:solidFill>
                <a:latin typeface="Calibri"/>
              </a:rPr>
              <a:t>✗ 沒時鐘 → 亂猜或說不知道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69029" y="1680210"/>
            <a:ext cx="4869179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12" b="1" i="0">
                <a:solidFill>
                  <a:srgbClr val="0F766E"/>
                </a:solidFill>
                <a:latin typeface="Calibri"/>
              </a:rPr>
              <a:t>② 你親手寫這幾行 → 它就有了新能力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69029" y="2023110"/>
            <a:ext cx="4869179" cy="20574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8485" y="2173986"/>
            <a:ext cx="4491990" cy="17693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937" b="0" i="0">
                <a:solidFill>
                  <a:srgbClr val="FB924D"/>
                </a:solidFill>
                <a:latin typeface="Consolas"/>
              </a:rPr>
              <a:t>@mcp.tool()</a:t>
            </a:r>
          </a:p>
          <a:p>
            <a:pPr algn="l">
              <a:spcAft>
                <a:spcPts val="75"/>
              </a:spcAft>
            </a:pPr>
            <a:r>
              <a:rPr sz="937" b="0" i="0">
                <a:solidFill>
                  <a:srgbClr val="E5E7EB"/>
                </a:solidFill>
                <a:latin typeface="Consolas"/>
              </a:rPr>
              <a:t>def get_today() -&gt; str:</a:t>
            </a:r>
          </a:p>
          <a:p>
            <a:pPr algn="l">
              <a:spcAft>
                <a:spcPts val="75"/>
              </a:spcAft>
            </a:pPr>
            <a:r>
              <a:rPr sz="937" b="0" i="0">
                <a:solidFill>
                  <a:srgbClr val="A8E1B4"/>
                </a:solidFill>
                <a:latin typeface="Consolas"/>
              </a:rPr>
              <a:t>    """回傳今天日期與星期幾。</a:t>
            </a:r>
          </a:p>
          <a:p>
            <a:pPr algn="l">
              <a:spcAft>
                <a:spcPts val="75"/>
              </a:spcAft>
            </a:pPr>
            <a:r>
              <a:rPr sz="937" b="0" i="0">
                <a:solidFill>
                  <a:srgbClr val="A8E1B4"/>
                </a:solidFill>
                <a:latin typeface="Consolas"/>
              </a:rPr>
              <a:t>    使用情境:問今天幾號/星期幾時呼叫。"""</a:t>
            </a:r>
          </a:p>
          <a:p>
            <a:pPr algn="l">
              <a:spcAft>
                <a:spcPts val="75"/>
              </a:spcAft>
            </a:pPr>
            <a:r>
              <a:rPr sz="937" b="0" i="0">
                <a:solidFill>
                  <a:srgbClr val="E5E7EB"/>
                </a:solidFill>
                <a:latin typeface="Consolas"/>
              </a:rPr>
              <a:t>    t = datetime.date.today()</a:t>
            </a:r>
          </a:p>
          <a:p>
            <a:pPr algn="l">
              <a:spcAft>
                <a:spcPts val="75"/>
              </a:spcAft>
            </a:pPr>
            <a:r>
              <a:rPr sz="937" b="0" i="0">
                <a:solidFill>
                  <a:srgbClr val="E5E7EB"/>
                </a:solidFill>
                <a:latin typeface="Consolas"/>
              </a:rPr>
              <a:t>    wd = "一二三四五六日"[t.weekday()]</a:t>
            </a:r>
          </a:p>
          <a:p>
            <a:pPr algn="l">
              <a:spcAft>
                <a:spcPts val="75"/>
              </a:spcAft>
            </a:pPr>
            <a:r>
              <a:rPr sz="937" b="0" i="0">
                <a:solidFill>
                  <a:srgbClr val="E5E7EB"/>
                </a:solidFill>
                <a:latin typeface="Consolas"/>
              </a:rPr>
              <a:t>    return json.dumps(</a:t>
            </a:r>
          </a:p>
          <a:p>
            <a:pPr algn="l">
              <a:spcAft>
                <a:spcPts val="75"/>
              </a:spcAft>
            </a:pPr>
            <a:r>
              <a:rPr sz="937" b="0" i="0">
                <a:solidFill>
                  <a:srgbClr val="E5E7EB"/>
                </a:solidFill>
                <a:latin typeface="Consolas"/>
              </a:rPr>
              <a:t>        {"今天": t.isoformat(), "星期": wd})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6 步：「先問失敗」→「造 today_tool」→ 再問答對 = MCP 的全部意義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收尾   W R A P   U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你剛剛走完的旅程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從「給一支工具」到「親手造一支」—— 六步,一個能力從無到有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48789"/>
            <a:ext cx="2640330" cy="23317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72234"/>
            <a:ext cx="229743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7B5CF5"/>
                </a:solidFill>
                <a:latin typeface="Arial Black"/>
              </a:rPr>
              <a:t>1–2 · 連上你的世界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953" y="2400300"/>
            <a:ext cx="2297430" cy="15087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7" b="0" i="0">
                <a:solidFill>
                  <a:srgbClr val="374151"/>
                </a:solidFill>
                <a:latin typeface="Calibri"/>
              </a:rPr>
              <a:t>看見 loop 在背後跑</a:t>
            </a:r>
          </a:p>
          <a:p>
            <a:pPr algn="l">
              <a:spcAft>
                <a:spcPts val="600"/>
              </a:spcAft>
            </a:pPr>
            <a:r>
              <a:rPr sz="1087" b="0" i="0">
                <a:solidFill>
                  <a:srgbClr val="374151"/>
                </a:solidFill>
                <a:latin typeface="Calibri"/>
              </a:rPr>
              <a:t>把它換成你的資料</a:t>
            </a:r>
          </a:p>
          <a:p>
            <a:pPr algn="l">
              <a:spcAft>
                <a:spcPts val="600"/>
              </a:spcAft>
            </a:pPr>
            <a:r>
              <a:rPr sz="1087" b="0" i="0">
                <a:solidFill>
                  <a:srgbClr val="374151"/>
                </a:solidFill>
                <a:latin typeface="Calibri"/>
              </a:rPr>
              <a:t>（零邏輯改動,L1）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0420" y="1748789"/>
            <a:ext cx="2640330" cy="233172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1870" y="1872234"/>
            <a:ext cx="229743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FB7048"/>
                </a:solidFill>
                <a:latin typeface="Arial Black"/>
              </a:rPr>
              <a:t>3–5 · 更真實的工具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2444" y="2400300"/>
            <a:ext cx="2297430" cy="15087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7" b="0" i="0">
                <a:solidFill>
                  <a:srgbClr val="374151"/>
                </a:solidFill>
                <a:latin typeface="Calibri"/>
              </a:rPr>
              <a:t>LLM 自己選工具填參數</a:t>
            </a:r>
          </a:p>
          <a:p>
            <a:pPr algn="l">
              <a:spcAft>
                <a:spcPts val="600"/>
              </a:spcAft>
            </a:pPr>
            <a:r>
              <a:rPr sz="1087" b="0" i="0">
                <a:solidFill>
                  <a:srgbClr val="374151"/>
                </a:solidFill>
                <a:latin typeface="Calibri"/>
              </a:rPr>
              <a:t>接真實外部 API</a:t>
            </a:r>
          </a:p>
          <a:p>
            <a:pPr algn="l">
              <a:spcAft>
                <a:spcPts val="600"/>
              </a:spcAft>
            </a:pPr>
            <a:r>
              <a:rPr sz="1087" b="0" i="0">
                <a:solidFill>
                  <a:srgbClr val="374151"/>
                </a:solidFill>
                <a:latin typeface="Calibri"/>
              </a:rPr>
              <a:t>撐住 3018 筆大資料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7909" y="1748789"/>
            <a:ext cx="2640330" cy="233172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872234"/>
            <a:ext cx="229743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0EA594"/>
                </a:solidFill>
                <a:latin typeface="Arial Black"/>
              </a:rPr>
              <a:t>6 · 親手造一支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9933" y="2400300"/>
            <a:ext cx="2297430" cy="15087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87" b="0" i="0">
                <a:solidFill>
                  <a:srgbClr val="374151"/>
                </a:solidFill>
                <a:latin typeface="Calibri"/>
              </a:rPr>
              <a:t>寫一支 LLM 辦不到的工具</a:t>
            </a:r>
          </a:p>
          <a:p>
            <a:pPr algn="l">
              <a:spcAft>
                <a:spcPts val="600"/>
              </a:spcAft>
            </a:pPr>
            <a:r>
              <a:rPr sz="1087" b="0" i="0">
                <a:solidFill>
                  <a:srgbClr val="374151"/>
                </a:solidFill>
                <a:latin typeface="Calibri"/>
              </a:rPr>
              <a:t>→ 它有了新能力</a:t>
            </a:r>
          </a:p>
          <a:p>
            <a:pPr algn="l">
              <a:spcAft>
                <a:spcPts val="600"/>
              </a:spcAft>
            </a:pPr>
            <a:r>
              <a:rPr sz="1087" b="0" i="0">
                <a:solidFill>
                  <a:srgbClr val="374151"/>
                </a:solidFill>
                <a:latin typeface="Calibri"/>
              </a:rPr>
              <a:t>這 = MCP 的全部意義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2930" y="445770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669" y="445770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從 3 支工具 到 239 支 —— Segment 5：真實上線的 scale / 品質 / 模型選擇 / 成本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附錄 A   R U N   L O C A L L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想在自己電腦跑（課後）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Colab 是零安裝版;要在本機跑完整 web 版照這四步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83080"/>
            <a:ext cx="8229600" cy="185166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933956"/>
            <a:ext cx="7852409" cy="15636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1125" b="0" i="0">
                <a:solidFill>
                  <a:srgbClr val="E5E7EB"/>
                </a:solidFill>
                <a:latin typeface="Consolas"/>
              </a:rPr>
              <a:t>git clone &lt;repo&gt; &amp;&amp; cd mini-project</a:t>
            </a:r>
          </a:p>
          <a:p>
            <a:pPr algn="l">
              <a:spcAft>
                <a:spcPts val="75"/>
              </a:spcAft>
            </a:pPr>
            <a:r>
              <a:rPr sz="1125" b="0" i="0">
                <a:solidFill>
                  <a:srgbClr val="E5E7EB"/>
                </a:solidFill>
                <a:latin typeface="Consolas"/>
              </a:rPr>
              <a:t>./setup.sh                 # 預檢 Node / uv / 套件</a:t>
            </a:r>
          </a:p>
          <a:p>
            <a:pPr algn="l">
              <a:spcAft>
                <a:spcPts val="75"/>
              </a:spcAft>
            </a:pPr>
            <a:r>
              <a:rPr sz="1125" b="0" i="0">
                <a:solidFill>
                  <a:srgbClr val="E5E7EB"/>
                </a:solidFill>
                <a:latin typeface="Consolas"/>
              </a:rPr>
              <a:t>cp .env.example .env       # 填入你的 ANTHROPIC_API_KEY</a:t>
            </a:r>
          </a:p>
          <a:p>
            <a:pPr algn="l">
              <a:spcAft>
                <a:spcPts val="75"/>
              </a:spcAft>
            </a:pPr>
            <a:r>
              <a:rPr sz="1125" b="0" i="0">
                <a:solidFill>
                  <a:srgbClr val="E5E7EB"/>
                </a:solidFill>
                <a:latin typeface="Consolas"/>
              </a:rPr>
              <a:t>cd backend-node &amp;&amp; npm start</a:t>
            </a:r>
          </a:p>
          <a:p>
            <a:pPr algn="l">
              <a:spcAft>
                <a:spcPts val="75"/>
              </a:spcAft>
            </a:pPr>
            <a:r>
              <a:rPr sz="1125" b="0" i="0">
                <a:solidFill>
                  <a:srgbClr val="9CA3AF"/>
                </a:solidFill>
                <a:latin typeface="Consolas"/>
              </a:rPr>
              <a:t># 開 http://localhost:3000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3840479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3840479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完整說明見 mini-project/README.md;三關 Lab 手冊在 docs/labs/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附錄 B   T R O U B L E S H O O T I N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卡點速查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現場最常遇到的幾個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48789"/>
            <a:ext cx="8229600" cy="65150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669" y="1837943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5B3ED9"/>
                </a:solidFill>
                <a:latin typeface="Calibri"/>
              </a:rPr>
              <a:t>聊天介面打不開 / 卡住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091689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→ 跑 Colab 附錄 A：cloudflared 開公開網址（新分頁）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930" y="2482596"/>
            <a:ext cx="8229600" cy="65150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669" y="257175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5B3ED9"/>
                </a:solidFill>
                <a:latin typeface="Calibri"/>
              </a:rPr>
              <a:t>EADDRINUSE / port 被佔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669" y="2825496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→ 重跑「啟動 server」那格即可（會自動殺舊的再起）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216402"/>
            <a:ext cx="8229600" cy="65150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3305556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5B3ED9"/>
                </a:solidFill>
                <a:latin typeface="Calibri"/>
              </a:rPr>
              <a:t>key 格式錯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669" y="3559302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→ 確認以 sk-ant- 開頭;或用 Colab Secrets 設 ANTHROPIC_API_KEY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2930" y="3950208"/>
            <a:ext cx="8229600" cy="65150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669" y="4039362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5B3ED9"/>
                </a:solidFill>
                <a:latin typeface="Calibri"/>
              </a:rPr>
              <a:t>改了檔卻沒生效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669" y="4293108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→ 回去重跑「啟動 / 重啟 server」那格讓改動套用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